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9966960" y="502920"/>
            <a:ext cx="2103120" cy="2103120"/>
          </a:xfrm>
          <a:prstGeom prst="ellipse">
            <a:avLst/>
          </a:prstGeom>
          <a:solidFill>
            <a:srgbClr val="12152B"/>
          </a:solidFill>
          <a:ln/>
        </p:spPr>
      </p:sp>
      <p:sp>
        <p:nvSpPr>
          <p:cNvPr id="3" name="Shape 1"/>
          <p:cNvSpPr/>
          <p:nvPr/>
        </p:nvSpPr>
        <p:spPr>
          <a:xfrm>
            <a:off x="10881360" y="1051560"/>
            <a:ext cx="1371600" cy="1371600"/>
          </a:xfrm>
          <a:prstGeom prst="ellipse">
            <a:avLst/>
          </a:prstGeom>
          <a:solidFill>
            <a:srgbClr val="00D9C0"/>
          </a:solidFill>
          <a:ln/>
        </p:spPr>
      </p:sp>
      <p:sp>
        <p:nvSpPr>
          <p:cNvPr id="4" name="Shape 2"/>
          <p:cNvSpPr/>
          <p:nvPr/>
        </p:nvSpPr>
        <p:spPr>
          <a:xfrm>
            <a:off x="10561320" y="2148840"/>
            <a:ext cx="502920" cy="502920"/>
          </a:xfrm>
          <a:prstGeom prst="ellipse">
            <a:avLst/>
          </a:prstGeom>
          <a:solidFill>
            <a:srgbClr val="E8EDF7"/>
          </a:solidFill>
          <a:ln/>
        </p:spPr>
      </p:sp>
      <p:sp>
        <p:nvSpPr>
          <p:cNvPr id="5" name="Text 3"/>
          <p:cNvSpPr txBox="1"/>
          <p:nvPr/>
        </p:nvSpPr>
        <p:spPr>
          <a:xfrm>
            <a:off x="640080" y="1965960"/>
            <a:ext cx="7315200" cy="365760"/>
          </a:xfrm>
          <a:prstGeom prst="rect">
            <a:avLst/>
          </a:prstGeom>
          <a:noFill/>
          <a:ln/>
        </p:spPr>
        <p:txBody>
          <a:bodyPr wrap="square" lIns="0" tIns="0" rIns="0" bIns="0" rtlCol="0" anchor="ctr"/>
          <a:lstStyle/>
          <a:p>
            <a:pPr indent="0" marL="0">
              <a:buNone/>
            </a:pPr>
            <a:r>
              <a:rPr lang="en-US" sz="1300" b="1" spc="200" kern="0" dirty="0">
                <a:solidFill>
                  <a:srgbClr val="00D9C0"/>
                </a:solidFill>
                <a:latin typeface="Calibri" pitchFamily="34" charset="0"/>
                <a:ea typeface="Calibri" pitchFamily="34" charset="-122"/>
                <a:cs typeface="Calibri" pitchFamily="34" charset="-120"/>
              </a:rPr>
              <a:t>PANAVERSITY  ·  PUBLISHED 2026</a:t>
            </a:r>
            <a:endParaRPr lang="en-US" sz="1300" dirty="0"/>
          </a:p>
        </p:txBody>
      </p:sp>
      <p:sp>
        <p:nvSpPr>
          <p:cNvPr id="6" name="Text 4"/>
          <p:cNvSpPr txBox="1"/>
          <p:nvPr/>
        </p:nvSpPr>
        <p:spPr>
          <a:xfrm>
            <a:off x="594360" y="2331720"/>
            <a:ext cx="8686800" cy="2194560"/>
          </a:xfrm>
          <a:prstGeom prst="rect">
            <a:avLst/>
          </a:prstGeom>
          <a:noFill/>
          <a:ln/>
        </p:spPr>
        <p:txBody>
          <a:bodyPr wrap="square" lIns="0" tIns="0" rIns="0" bIns="0" rtlCol="0" anchor="ctr"/>
          <a:lstStyle/>
          <a:p>
            <a:pPr indent="0" marL="0">
              <a:lnSpc>
                <a:spcPct val="102000"/>
              </a:lnSpc>
              <a:buNone/>
            </a:pPr>
            <a:r>
              <a:rPr lang="en-US" sz="5400" b="1" dirty="0">
                <a:solidFill>
                  <a:srgbClr val="FFFFFF"/>
                </a:solidFill>
                <a:latin typeface="Cambria" pitchFamily="34" charset="0"/>
                <a:ea typeface="Cambria" pitchFamily="34" charset="-122"/>
                <a:cs typeface="Cambria" pitchFamily="34" charset="-120"/>
              </a:rPr>
              <a:t>The AI Agent</a:t>
            </a:r>
            <a:endParaRPr lang="en-US" sz="5400" dirty="0"/>
          </a:p>
          <a:p>
            <a:pPr indent="0" marL="0">
              <a:lnSpc>
                <a:spcPct val="102000"/>
              </a:lnSpc>
              <a:buNone/>
            </a:pPr>
            <a:r>
              <a:rPr lang="en-US" sz="5400" b="1" dirty="0">
                <a:solidFill>
                  <a:srgbClr val="FFFFFF"/>
                </a:solidFill>
                <a:latin typeface="Cambria" pitchFamily="34" charset="0"/>
                <a:ea typeface="Cambria" pitchFamily="34" charset="-122"/>
                <a:cs typeface="Cambria" pitchFamily="34" charset="-120"/>
              </a:rPr>
              <a:t>Factory</a:t>
            </a:r>
            <a:endParaRPr lang="en-US" sz="5400" dirty="0"/>
          </a:p>
        </p:txBody>
      </p:sp>
      <p:sp>
        <p:nvSpPr>
          <p:cNvPr id="7" name="Text 5"/>
          <p:cNvSpPr txBox="1"/>
          <p:nvPr/>
        </p:nvSpPr>
        <p:spPr>
          <a:xfrm>
            <a:off x="640080" y="4617720"/>
            <a:ext cx="8046720" cy="822960"/>
          </a:xfrm>
          <a:prstGeom prst="rect">
            <a:avLst/>
          </a:prstGeom>
          <a:noFill/>
          <a:ln/>
        </p:spPr>
        <p:txBody>
          <a:bodyPr wrap="square" lIns="0" tIns="0" rIns="0" bIns="0" rtlCol="0" anchor="ctr"/>
          <a:lstStyle/>
          <a:p>
            <a:pPr indent="0" marL="0">
              <a:lnSpc>
                <a:spcPct val="120000"/>
              </a:lnSpc>
              <a:buNone/>
            </a:pPr>
            <a:r>
              <a:rPr lang="en-US" sz="1600" dirty="0">
                <a:solidFill>
                  <a:srgbClr val="E8EDF7"/>
                </a:solidFill>
                <a:latin typeface="Calibri" pitchFamily="34" charset="0"/>
                <a:ea typeface="Calibri" pitchFamily="34" charset="-122"/>
                <a:cs typeface="Calibri" pitchFamily="34" charset="-120"/>
              </a:rPr>
              <a:t>The spec-driven blueprint for manufacturing, packaging, and monetizing</a:t>
            </a:r>
            <a:endParaRPr lang="en-US" sz="1600" dirty="0"/>
          </a:p>
          <a:p>
            <a:pPr indent="0" marL="0">
              <a:lnSpc>
                <a:spcPct val="120000"/>
              </a:lnSpc>
              <a:buNone/>
            </a:pPr>
            <a:r>
              <a:rPr lang="en-US" sz="1600" dirty="0">
                <a:solidFill>
                  <a:srgbClr val="E8EDF7"/>
                </a:solidFill>
                <a:latin typeface="Calibri" pitchFamily="34" charset="0"/>
                <a:ea typeface="Calibri" pitchFamily="34" charset="-122"/>
                <a:cs typeface="Calibri" pitchFamily="34" charset="-120"/>
              </a:rPr>
              <a:t>AI Workforces — reliable Digital FTEs you can trust, deploy, and scale.</a:t>
            </a:r>
            <a:endParaRPr lang="en-US" sz="1600" dirty="0"/>
          </a:p>
        </p:txBody>
      </p:sp>
      <p:sp>
        <p:nvSpPr>
          <p:cNvPr id="8" name="Shape 6"/>
          <p:cNvSpPr/>
          <p:nvPr/>
        </p:nvSpPr>
        <p:spPr>
          <a:xfrm>
            <a:off x="640080" y="5623560"/>
            <a:ext cx="502920" cy="36576"/>
          </a:xfrm>
          <a:prstGeom prst="rect">
            <a:avLst/>
          </a:prstGeom>
          <a:solidFill>
            <a:srgbClr val="00D9C0"/>
          </a:solidFill>
          <a:ln/>
        </p:spPr>
      </p:sp>
      <p:sp>
        <p:nvSpPr>
          <p:cNvPr id="9" name="Text 7"/>
          <p:cNvSpPr txBox="1"/>
          <p:nvPr/>
        </p:nvSpPr>
        <p:spPr>
          <a:xfrm>
            <a:off x="640080" y="580644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agentfactory.panaversity.org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49C8C"/>
                </a:solidFill>
                <a:latin typeface="Calibri" pitchFamily="34" charset="0"/>
                <a:ea typeface="Calibri" pitchFamily="34" charset="-122"/>
                <a:cs typeface="Calibri" pitchFamily="34" charset="-120"/>
              </a:rPr>
              <a:t>WHAT IS IT</a:t>
            </a:r>
            <a:endParaRPr lang="en-US" sz="1300" dirty="0"/>
          </a:p>
        </p:txBody>
      </p:sp>
      <p:sp>
        <p:nvSpPr>
          <p:cNvPr id="3" name="Text 1"/>
          <p:cNvSpPr txBox="1"/>
          <p:nvPr/>
        </p:nvSpPr>
        <p:spPr>
          <a:xfrm>
            <a:off x="548640" y="777240"/>
            <a:ext cx="6126480" cy="1554480"/>
          </a:xfrm>
          <a:prstGeom prst="rect">
            <a:avLst/>
          </a:prstGeom>
          <a:noFill/>
          <a:ln/>
        </p:spPr>
        <p:txBody>
          <a:bodyPr wrap="square" lIns="0" tIns="0" rIns="0" bIns="0" rtlCol="0" anchor="ctr"/>
          <a:lstStyle/>
          <a:p>
            <a:pPr indent="0" marL="0">
              <a:lnSpc>
                <a:spcPct val="105000"/>
              </a:lnSpc>
              <a:buNone/>
            </a:pPr>
            <a:r>
              <a:rPr lang="en-US" sz="3200" b="1" dirty="0">
                <a:solidFill>
                  <a:srgbClr val="1B1F3B"/>
                </a:solidFill>
                <a:latin typeface="Cambria" pitchFamily="34" charset="0"/>
                <a:ea typeface="Cambria" pitchFamily="34" charset="-122"/>
                <a:cs typeface="Cambria" pitchFamily="34" charset="-120"/>
              </a:rPr>
              <a:t>A free, living book — and</a:t>
            </a:r>
            <a:endParaRPr lang="en-US" sz="3200" dirty="0"/>
          </a:p>
          <a:p>
            <a:pPr indent="0" marL="0">
              <a:lnSpc>
                <a:spcPct val="105000"/>
              </a:lnSpc>
              <a:buNone/>
            </a:pPr>
            <a:r>
              <a:rPr lang="en-US" sz="3200" b="1" dirty="0">
                <a:solidFill>
                  <a:srgbClr val="1B1F3B"/>
                </a:solidFill>
                <a:latin typeface="Cambria" pitchFamily="34" charset="0"/>
                <a:ea typeface="Cambria" pitchFamily="34" charset="-122"/>
                <a:cs typeface="Cambria" pitchFamily="34" charset="-120"/>
              </a:rPr>
              <a:t>an AI-powered course</a:t>
            </a:r>
            <a:endParaRPr lang="en-US" sz="3200" dirty="0"/>
          </a:p>
        </p:txBody>
      </p:sp>
      <p:sp>
        <p:nvSpPr>
          <p:cNvPr id="4" name="Text 2"/>
          <p:cNvSpPr txBox="1"/>
          <p:nvPr/>
        </p:nvSpPr>
        <p:spPr>
          <a:xfrm>
            <a:off x="548640" y="2377440"/>
            <a:ext cx="6309360" cy="2377440"/>
          </a:xfrm>
          <a:prstGeom prst="rect">
            <a:avLst/>
          </a:prstGeom>
          <a:noFill/>
          <a:ln/>
        </p:spPr>
        <p:txBody>
          <a:bodyPr wrap="square" lIns="0" tIns="0" rIns="0" bIns="0" rtlCol="0" anchor="ctr"/>
          <a:lstStyle/>
          <a:p>
            <a:pPr indent="0" marL="0">
              <a:lnSpc>
                <a:spcPct val="130000"/>
              </a:lnSpc>
              <a:buNone/>
            </a:pPr>
            <a:r>
              <a:rPr lang="en-US" sz="1500" dirty="0">
                <a:solidFill>
                  <a:srgbClr val="22263F"/>
                </a:solidFill>
                <a:latin typeface="Calibri" pitchFamily="34" charset="0"/>
                <a:ea typeface="Calibri" pitchFamily="34" charset="-122"/>
                <a:cs typeface="Calibri" pitchFamily="34" charset="-120"/>
              </a:rPr>
              <a:t>The AI Agent Factory teaches domain experts and engineers how to manufacture, package, and monetize AI Workers — the role-based AI agents that staff the “AI-Native Company.” It runs from critical-thinking foundations through real business domains (finance, banking, legal, sales, operations), spec-driven engineering, and production deployment.</a:t>
            </a:r>
            <a:endParaRPr lang="en-US" sz="1500" dirty="0"/>
          </a:p>
        </p:txBody>
      </p:sp>
      <p:sp>
        <p:nvSpPr>
          <p:cNvPr id="5" name="Shape 3"/>
          <p:cNvSpPr/>
          <p:nvPr/>
        </p:nvSpPr>
        <p:spPr>
          <a:xfrm>
            <a:off x="7360920" y="777240"/>
            <a:ext cx="4297680" cy="5074920"/>
          </a:xfrm>
          <a:prstGeom prst="roundRect">
            <a:avLst>
              <a:gd name="adj" fmla="val 2553"/>
            </a:avLst>
          </a:prstGeom>
          <a:solidFill>
            <a:srgbClr val="E8EDF7"/>
          </a:solidFill>
          <a:ln/>
        </p:spPr>
      </p:sp>
      <p:sp>
        <p:nvSpPr>
          <p:cNvPr id="6" name="Shape 4"/>
          <p:cNvSpPr/>
          <p:nvPr/>
        </p:nvSpPr>
        <p:spPr>
          <a:xfrm>
            <a:off x="7680960" y="1097280"/>
            <a:ext cx="502920" cy="502920"/>
          </a:xfrm>
          <a:prstGeom prst="ellipse">
            <a:avLst/>
          </a:prstGeom>
          <a:solidFill>
            <a:srgbClr val="1B1F3B"/>
          </a:solidFill>
          <a:ln/>
        </p:spPr>
      </p:sp>
      <p:sp>
        <p:nvSpPr>
          <p:cNvPr id="7" name="Text 5"/>
          <p:cNvSpPr txBox="1"/>
          <p:nvPr/>
        </p:nvSpPr>
        <p:spPr>
          <a:xfrm>
            <a:off x="7680960" y="1097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8366760" y="1051560"/>
            <a:ext cx="3017520" cy="320040"/>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Book</a:t>
            </a:r>
            <a:endParaRPr lang="en-US" sz="1600" dirty="0"/>
          </a:p>
        </p:txBody>
      </p:sp>
      <p:sp>
        <p:nvSpPr>
          <p:cNvPr id="9" name="Text 7"/>
          <p:cNvSpPr txBox="1"/>
          <p:nvPr/>
        </p:nvSpPr>
        <p:spPr>
          <a:xfrm>
            <a:off x="8366760" y="1389888"/>
            <a:ext cx="3108960" cy="685800"/>
          </a:xfrm>
          <a:prstGeom prst="rect">
            <a:avLst/>
          </a:prstGeom>
          <a:noFill/>
          <a:ln/>
        </p:spPr>
        <p:txBody>
          <a:bodyPr wrap="square" lIns="0" tIns="0" rIns="0" bIns="0" rtlCol="0" anchor="ctr"/>
          <a:lstStyle/>
          <a:p>
            <a:pPr indent="0" marL="0">
              <a:lnSpc>
                <a:spcPct val="115000"/>
              </a:lnSpc>
              <a:buNone/>
            </a:pPr>
            <a:r>
              <a:rPr lang="en-US" sz="1200" dirty="0">
                <a:solidFill>
                  <a:srgbClr val="6B7089"/>
                </a:solidFill>
                <a:latin typeface="Calibri" pitchFamily="34" charset="0"/>
                <a:ea typeface="Calibri" pitchFamily="34" charset="-122"/>
                <a:cs typeface="Calibri" pitchFamily="34" charset="-120"/>
              </a:rPr>
              <a:t>The full curriculum, free to read online</a:t>
            </a:r>
            <a:endParaRPr lang="en-US" sz="1200" dirty="0"/>
          </a:p>
        </p:txBody>
      </p:sp>
      <p:sp>
        <p:nvSpPr>
          <p:cNvPr id="10" name="Shape 8"/>
          <p:cNvSpPr/>
          <p:nvPr/>
        </p:nvSpPr>
        <p:spPr>
          <a:xfrm>
            <a:off x="7680960" y="2560320"/>
            <a:ext cx="502920" cy="502920"/>
          </a:xfrm>
          <a:prstGeom prst="ellipse">
            <a:avLst/>
          </a:prstGeom>
          <a:solidFill>
            <a:srgbClr val="1B1F3B"/>
          </a:solidFill>
          <a:ln/>
        </p:spPr>
      </p:sp>
      <p:sp>
        <p:nvSpPr>
          <p:cNvPr id="11" name="Text 9"/>
          <p:cNvSpPr txBox="1"/>
          <p:nvPr/>
        </p:nvSpPr>
        <p:spPr>
          <a:xfrm>
            <a:off x="7680960"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8366760" y="2514600"/>
            <a:ext cx="3017520" cy="320040"/>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Tutor</a:t>
            </a:r>
            <a:endParaRPr lang="en-US" sz="1600" dirty="0"/>
          </a:p>
        </p:txBody>
      </p:sp>
      <p:sp>
        <p:nvSpPr>
          <p:cNvPr id="13" name="Text 11"/>
          <p:cNvSpPr txBox="1"/>
          <p:nvPr/>
        </p:nvSpPr>
        <p:spPr>
          <a:xfrm>
            <a:off x="8366760" y="2852928"/>
            <a:ext cx="3108960" cy="685800"/>
          </a:xfrm>
          <a:prstGeom prst="rect">
            <a:avLst/>
          </a:prstGeom>
          <a:noFill/>
          <a:ln/>
        </p:spPr>
        <p:txBody>
          <a:bodyPr wrap="square" lIns="0" tIns="0" rIns="0" bIns="0" rtlCol="0" anchor="ctr"/>
          <a:lstStyle/>
          <a:p>
            <a:pPr indent="0" marL="0">
              <a:lnSpc>
                <a:spcPct val="115000"/>
              </a:lnSpc>
              <a:buNone/>
            </a:pPr>
            <a:r>
              <a:rPr lang="en-US" sz="1200" dirty="0">
                <a:solidFill>
                  <a:srgbClr val="6B7089"/>
                </a:solidFill>
                <a:latin typeface="Calibri" pitchFamily="34" charset="0"/>
                <a:ea typeface="Calibri" pitchFamily="34" charset="-122"/>
                <a:cs typeface="Calibri" pitchFamily="34" charset="-120"/>
              </a:rPr>
              <a:t>Zia Tutor AI teaches it and remembers your progress</a:t>
            </a:r>
            <a:endParaRPr lang="en-US" sz="1200" dirty="0"/>
          </a:p>
        </p:txBody>
      </p:sp>
      <p:sp>
        <p:nvSpPr>
          <p:cNvPr id="14" name="Shape 12"/>
          <p:cNvSpPr/>
          <p:nvPr/>
        </p:nvSpPr>
        <p:spPr>
          <a:xfrm>
            <a:off x="7680960" y="4023360"/>
            <a:ext cx="502920" cy="502920"/>
          </a:xfrm>
          <a:prstGeom prst="ellipse">
            <a:avLst/>
          </a:prstGeom>
          <a:solidFill>
            <a:srgbClr val="1B1F3B"/>
          </a:solidFill>
          <a:ln/>
        </p:spPr>
      </p:sp>
      <p:sp>
        <p:nvSpPr>
          <p:cNvPr id="15" name="Text 13"/>
          <p:cNvSpPr txBox="1"/>
          <p:nvPr/>
        </p:nvSpPr>
        <p:spPr>
          <a:xfrm>
            <a:off x="7680960" y="4023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8366760" y="3977640"/>
            <a:ext cx="3017520" cy="320040"/>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Builder</a:t>
            </a:r>
            <a:endParaRPr lang="en-US" sz="1600" dirty="0"/>
          </a:p>
        </p:txBody>
      </p:sp>
      <p:sp>
        <p:nvSpPr>
          <p:cNvPr id="17" name="Text 15"/>
          <p:cNvSpPr txBox="1"/>
          <p:nvPr/>
        </p:nvSpPr>
        <p:spPr>
          <a:xfrm>
            <a:off x="8366760" y="4315968"/>
            <a:ext cx="3108960" cy="685800"/>
          </a:xfrm>
          <a:prstGeom prst="rect">
            <a:avLst/>
          </a:prstGeom>
          <a:noFill/>
          <a:ln/>
        </p:spPr>
        <p:txBody>
          <a:bodyPr wrap="square" lIns="0" tIns="0" rIns="0" bIns="0" rtlCol="0" anchor="ctr"/>
          <a:lstStyle/>
          <a:p>
            <a:pPr indent="0" marL="0">
              <a:lnSpc>
                <a:spcPct val="115000"/>
              </a:lnSpc>
              <a:buNone/>
            </a:pPr>
            <a:r>
              <a:rPr lang="en-US" sz="1200" dirty="0">
                <a:solidFill>
                  <a:srgbClr val="6B7089"/>
                </a:solidFill>
                <a:latin typeface="Calibri" pitchFamily="34" charset="0"/>
                <a:ea typeface="Calibri" pitchFamily="34" charset="-122"/>
                <a:cs typeface="Calibri" pitchFamily="34" charset="-120"/>
              </a:rPr>
              <a:t>Zia Developer AI helps you build agents from the book</a:t>
            </a:r>
            <a:endParaRPr lang="en-US" sz="1200" dirty="0"/>
          </a:p>
        </p:txBody>
      </p:sp>
      <p:sp>
        <p:nvSpPr>
          <p:cNvPr id="18" name="Text 16"/>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9AA0BE"/>
                </a:solidFill>
                <a:latin typeface="Calibri" pitchFamily="34" charset="0"/>
                <a:ea typeface="Calibri" pitchFamily="34" charset="-122"/>
                <a:cs typeface="Calibri" pitchFamily="34" charset="-120"/>
              </a:rPr>
              <a:t>agentfactory.panaversity.org</a:t>
            </a:r>
            <a:endParaRPr lang="en-US" sz="1000" dirty="0"/>
          </a:p>
        </p:txBody>
      </p:sp>
      <p:sp>
        <p:nvSpPr>
          <p:cNvPr id="19" name="Text 17"/>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9AA0B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0D9C0"/>
                </a:solidFill>
                <a:latin typeface="Calibri" pitchFamily="34" charset="0"/>
                <a:ea typeface="Calibri" pitchFamily="34" charset="-122"/>
                <a:cs typeface="Calibri" pitchFamily="34" charset="-120"/>
              </a:rPr>
              <a:t>THE THESIS</a:t>
            </a:r>
            <a:endParaRPr lang="en-US" sz="1300" dirty="0"/>
          </a:p>
        </p:txBody>
      </p:sp>
      <p:sp>
        <p:nvSpPr>
          <p:cNvPr id="3" name="Text 1"/>
          <p:cNvSpPr txBox="1"/>
          <p:nvPr/>
        </p:nvSpPr>
        <p:spPr>
          <a:xfrm>
            <a:off x="548640" y="777240"/>
            <a:ext cx="10515600" cy="146304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Software used to be sold.</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Now the work gets done for you.</a:t>
            </a:r>
            <a:endParaRPr lang="en-US" sz="3000" dirty="0"/>
          </a:p>
        </p:txBody>
      </p:sp>
      <p:sp>
        <p:nvSpPr>
          <p:cNvPr id="4" name="Text 2"/>
          <p:cNvSpPr txBox="1"/>
          <p:nvPr/>
        </p:nvSpPr>
        <p:spPr>
          <a:xfrm>
            <a:off x="548640" y="1965960"/>
            <a:ext cx="10424160" cy="548640"/>
          </a:xfrm>
          <a:prstGeom prst="rect">
            <a:avLst/>
          </a:prstGeom>
          <a:noFill/>
          <a:ln/>
        </p:spPr>
        <p:txBody>
          <a:bodyPr wrap="square" lIns="0" tIns="0" rIns="0" bIns="0" rtlCol="0" anchor="ctr"/>
          <a:lstStyle/>
          <a:p>
            <a:pPr indent="0" marL="0">
              <a:buNone/>
            </a:pPr>
            <a:r>
              <a:rPr lang="en-US" sz="1600" i="1" dirty="0">
                <a:solidFill>
                  <a:srgbClr val="E8EDF7"/>
                </a:solidFill>
                <a:latin typeface="Calibri" pitchFamily="34" charset="0"/>
                <a:ea typeface="Calibri" pitchFamily="34" charset="-122"/>
                <a:cs typeface="Calibri" pitchFamily="34" charset="-120"/>
              </a:rPr>
              <a:t>In the AI era, the most valuable companies won’t sell software — they’ll manufacture AI employees.</a:t>
            </a:r>
            <a:endParaRPr lang="en-US" sz="1600" dirty="0"/>
          </a:p>
        </p:txBody>
      </p:sp>
      <p:sp>
        <p:nvSpPr>
          <p:cNvPr id="5" name="Shape 3"/>
          <p:cNvSpPr/>
          <p:nvPr/>
        </p:nvSpPr>
        <p:spPr>
          <a:xfrm>
            <a:off x="548640" y="2788920"/>
            <a:ext cx="5074920" cy="3108960"/>
          </a:xfrm>
          <a:prstGeom prst="roundRect">
            <a:avLst>
              <a:gd name="adj" fmla="val 2941"/>
            </a:avLst>
          </a:prstGeom>
          <a:solidFill>
            <a:srgbClr val="12152B"/>
          </a:solidFill>
          <a:ln/>
        </p:spPr>
      </p:sp>
      <p:sp>
        <p:nvSpPr>
          <p:cNvPr id="6" name="Shape 4"/>
          <p:cNvSpPr/>
          <p:nvPr/>
        </p:nvSpPr>
        <p:spPr>
          <a:xfrm>
            <a:off x="6263640" y="2788920"/>
            <a:ext cx="5074920" cy="3108960"/>
          </a:xfrm>
          <a:prstGeom prst="roundRect">
            <a:avLst>
              <a:gd name="adj" fmla="val 2941"/>
            </a:avLst>
          </a:prstGeom>
          <a:solidFill>
            <a:srgbClr val="049C8C"/>
          </a:solidFill>
          <a:ln/>
        </p:spPr>
      </p:sp>
      <p:sp>
        <p:nvSpPr>
          <p:cNvPr id="7" name="Text 5"/>
          <p:cNvSpPr txBox="1"/>
          <p:nvPr/>
        </p:nvSpPr>
        <p:spPr>
          <a:xfrm>
            <a:off x="868680" y="3063240"/>
            <a:ext cx="4389120" cy="365760"/>
          </a:xfrm>
          <a:prstGeom prst="rect">
            <a:avLst/>
          </a:prstGeom>
          <a:noFill/>
          <a:ln/>
        </p:spPr>
        <p:txBody>
          <a:bodyPr wrap="square" lIns="0" tIns="0" rIns="0" bIns="0" rtlCol="0" anchor="ctr"/>
          <a:lstStyle/>
          <a:p>
            <a:pPr indent="0" marL="0">
              <a:buNone/>
            </a:pPr>
            <a:r>
              <a:rPr lang="en-US" sz="1300" b="1" spc="150" kern="0" dirty="0">
                <a:solidFill>
                  <a:srgbClr val="9AA0BE"/>
                </a:solidFill>
                <a:latin typeface="Calibri" pitchFamily="34" charset="0"/>
                <a:ea typeface="Calibri" pitchFamily="34" charset="-122"/>
                <a:cs typeface="Calibri" pitchFamily="34" charset="-120"/>
              </a:rPr>
              <a:t>THE SAAS ERA</a:t>
            </a:r>
            <a:endParaRPr lang="en-US" sz="1300" dirty="0"/>
          </a:p>
        </p:txBody>
      </p:sp>
      <p:sp>
        <p:nvSpPr>
          <p:cNvPr id="8" name="Text 6"/>
          <p:cNvSpPr txBox="1"/>
          <p:nvPr/>
        </p:nvSpPr>
        <p:spPr>
          <a:xfrm>
            <a:off x="868680" y="3429000"/>
            <a:ext cx="438912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Sells subscriptions</a:t>
            </a:r>
            <a:endParaRPr lang="en-US" sz="2200" dirty="0"/>
          </a:p>
        </p:txBody>
      </p:sp>
      <p:sp>
        <p:nvSpPr>
          <p:cNvPr id="9" name="Text 7"/>
          <p:cNvSpPr txBox="1"/>
          <p:nvPr/>
        </p:nvSpPr>
        <p:spPr>
          <a:xfrm>
            <a:off x="868680" y="4114800"/>
            <a:ext cx="4389120" cy="1463040"/>
          </a:xfrm>
          <a:prstGeom prst="rect">
            <a:avLst/>
          </a:prstGeom>
          <a:noFill/>
          <a:ln/>
        </p:spPr>
        <p:txBody>
          <a:bodyPr wrap="square" lIns="0" tIns="0" rIns="0" bIns="0" rtlCol="0" anchor="ctr"/>
          <a:lstStyle/>
          <a:p>
            <a:pPr indent="0" marL="0">
              <a:lnSpc>
                <a:spcPct val="130000"/>
              </a:lnSpc>
              <a:buNone/>
            </a:pPr>
            <a:r>
              <a:rPr lang="en-US" sz="1400" dirty="0">
                <a:solidFill>
                  <a:srgbClr val="E8EDF7"/>
                </a:solidFill>
                <a:latin typeface="Calibri" pitchFamily="34" charset="0"/>
                <a:ea typeface="Calibri" pitchFamily="34" charset="-122"/>
                <a:cs typeface="Calibri" pitchFamily="34" charset="-120"/>
              </a:rPr>
              <a:t>Pay $200/month per seat for software that helps a human do the work.</a:t>
            </a:r>
            <a:endParaRPr lang="en-US" sz="1400" dirty="0"/>
          </a:p>
        </p:txBody>
      </p:sp>
      <p:sp>
        <p:nvSpPr>
          <p:cNvPr id="10" name="Text 8"/>
          <p:cNvSpPr txBox="1"/>
          <p:nvPr/>
        </p:nvSpPr>
        <p:spPr>
          <a:xfrm>
            <a:off x="6583680" y="3063240"/>
            <a:ext cx="4389120" cy="365760"/>
          </a:xfrm>
          <a:prstGeom prst="rect">
            <a:avLst/>
          </a:prstGeom>
          <a:noFill/>
          <a:ln/>
        </p:spPr>
        <p:txBody>
          <a:bodyPr wrap="square" lIns="0" tIns="0" rIns="0" bIns="0" rtlCol="0" anchor="ctr"/>
          <a:lstStyle/>
          <a:p>
            <a:pPr indent="0" marL="0">
              <a:buNone/>
            </a:pPr>
            <a:r>
              <a:rPr lang="en-US" sz="1300" b="1" spc="150" kern="0" dirty="0">
                <a:solidFill>
                  <a:srgbClr val="12152B"/>
                </a:solidFill>
                <a:latin typeface="Calibri" pitchFamily="34" charset="0"/>
                <a:ea typeface="Calibri" pitchFamily="34" charset="-122"/>
                <a:cs typeface="Calibri" pitchFamily="34" charset="-120"/>
              </a:rPr>
              <a:t>THE AGENT FACTORY ERA</a:t>
            </a:r>
            <a:endParaRPr lang="en-US" sz="1300" dirty="0"/>
          </a:p>
        </p:txBody>
      </p:sp>
      <p:sp>
        <p:nvSpPr>
          <p:cNvPr id="11" name="Text 9"/>
          <p:cNvSpPr txBox="1"/>
          <p:nvPr/>
        </p:nvSpPr>
        <p:spPr>
          <a:xfrm>
            <a:off x="6583680" y="3429000"/>
            <a:ext cx="438912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Sells results</a:t>
            </a:r>
            <a:endParaRPr lang="en-US" sz="2200" dirty="0"/>
          </a:p>
        </p:txBody>
      </p:sp>
      <p:sp>
        <p:nvSpPr>
          <p:cNvPr id="12" name="Text 10"/>
          <p:cNvSpPr txBox="1"/>
          <p:nvPr/>
        </p:nvSpPr>
        <p:spPr>
          <a:xfrm>
            <a:off x="6583680" y="4114800"/>
            <a:ext cx="4389120" cy="1463040"/>
          </a:xfrm>
          <a:prstGeom prst="rect">
            <a:avLst/>
          </a:prstGeom>
          <a:noFill/>
          <a:ln/>
        </p:spPr>
        <p:txBody>
          <a:bodyPr wrap="square" lIns="0" tIns="0" rIns="0" bIns="0" rtlCol="0" anchor="ctr"/>
          <a:lstStyle/>
          <a:p>
            <a:pPr indent="0" marL="0">
              <a:lnSpc>
                <a:spcPct val="130000"/>
              </a:lnSpc>
              <a:buNone/>
            </a:pPr>
            <a:r>
              <a:rPr lang="en-US" sz="1400" dirty="0">
                <a:solidFill>
                  <a:srgbClr val="12152B"/>
                </a:solidFill>
                <a:latin typeface="Calibri" pitchFamily="34" charset="0"/>
                <a:ea typeface="Calibri" pitchFamily="34" charset="-122"/>
                <a:cs typeface="Calibri" pitchFamily="34" charset="-120"/>
              </a:rPr>
              <a:t>Hire an AI Worker that does the job itself, supervised by a human.</a:t>
            </a:r>
            <a:endParaRPr lang="en-US" sz="1400" dirty="0"/>
          </a:p>
        </p:txBody>
      </p:sp>
      <p:sp>
        <p:nvSpPr>
          <p:cNvPr id="13" name="Text 11"/>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8A8FB0"/>
                </a:solidFill>
                <a:latin typeface="Calibri" pitchFamily="34" charset="0"/>
                <a:ea typeface="Calibri" pitchFamily="34" charset="-122"/>
                <a:cs typeface="Calibri" pitchFamily="34" charset="-120"/>
              </a:rPr>
              <a:t>agentfactory.panaversity.org</a:t>
            </a:r>
            <a:endParaRPr lang="en-US" sz="1000" dirty="0"/>
          </a:p>
        </p:txBody>
      </p:sp>
      <p:sp>
        <p:nvSpPr>
          <p:cNvPr id="14" name="Text 12"/>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8A8FB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D64545"/>
                </a:solidFill>
                <a:latin typeface="Calibri" pitchFamily="34" charset="0"/>
                <a:ea typeface="Calibri" pitchFamily="34" charset="-122"/>
                <a:cs typeface="Calibri" pitchFamily="34" charset="-120"/>
              </a:rPr>
              <a:t>WHY NOW</a:t>
            </a:r>
            <a:endParaRPr lang="en-US" sz="1300" dirty="0"/>
          </a:p>
        </p:txBody>
      </p:sp>
      <p:sp>
        <p:nvSpPr>
          <p:cNvPr id="3" name="Text 1"/>
          <p:cNvSpPr txBox="1"/>
          <p:nvPr/>
        </p:nvSpPr>
        <p:spPr>
          <a:xfrm>
            <a:off x="548640" y="777240"/>
            <a:ext cx="6400800" cy="1463040"/>
          </a:xfrm>
          <a:prstGeom prst="rect">
            <a:avLst/>
          </a:prstGeom>
          <a:noFill/>
          <a:ln/>
        </p:spPr>
        <p:txBody>
          <a:bodyPr wrap="square" lIns="0" tIns="0" rIns="0" bIns="0" rtlCol="0" anchor="ctr"/>
          <a:lstStyle/>
          <a:p>
            <a:pPr indent="0" marL="0">
              <a:lnSpc>
                <a:spcPct val="105000"/>
              </a:lnSpc>
              <a:buNone/>
            </a:pPr>
            <a:r>
              <a:rPr lang="en-US" sz="3200" b="1" dirty="0">
                <a:solidFill>
                  <a:srgbClr val="1B1F3B"/>
                </a:solidFill>
                <a:latin typeface="Cambria" pitchFamily="34" charset="0"/>
                <a:ea typeface="Cambria" pitchFamily="34" charset="-122"/>
                <a:cs typeface="Cambria" pitchFamily="34" charset="-120"/>
              </a:rPr>
              <a:t>The “SaaSpocalypse”</a:t>
            </a:r>
            <a:endParaRPr lang="en-US" sz="3200" dirty="0"/>
          </a:p>
          <a:p>
            <a:pPr indent="0" marL="0">
              <a:lnSpc>
                <a:spcPct val="105000"/>
              </a:lnSpc>
              <a:buNone/>
            </a:pPr>
            <a:r>
              <a:rPr lang="en-US" sz="3200" b="1" dirty="0">
                <a:solidFill>
                  <a:srgbClr val="1B1F3B"/>
                </a:solidFill>
                <a:latin typeface="Cambria" pitchFamily="34" charset="0"/>
                <a:ea typeface="Cambria" pitchFamily="34" charset="-122"/>
                <a:cs typeface="Cambria" pitchFamily="34" charset="-120"/>
              </a:rPr>
              <a:t>of February 2026</a:t>
            </a:r>
            <a:endParaRPr lang="en-US" sz="3200" dirty="0"/>
          </a:p>
        </p:txBody>
      </p:sp>
      <p:sp>
        <p:nvSpPr>
          <p:cNvPr id="4" name="Text 2"/>
          <p:cNvSpPr txBox="1"/>
          <p:nvPr/>
        </p:nvSpPr>
        <p:spPr>
          <a:xfrm>
            <a:off x="548640" y="2468880"/>
            <a:ext cx="6035040" cy="2377440"/>
          </a:xfrm>
          <a:prstGeom prst="rect">
            <a:avLst/>
          </a:prstGeom>
          <a:noFill/>
          <a:ln/>
        </p:spPr>
        <p:txBody>
          <a:bodyPr wrap="square" lIns="0" tIns="0" rIns="0" bIns="0" rtlCol="0" anchor="ctr"/>
          <a:lstStyle/>
          <a:p>
            <a:pPr indent="0" marL="0">
              <a:lnSpc>
                <a:spcPct val="130000"/>
              </a:lnSpc>
              <a:buNone/>
            </a:pPr>
            <a:r>
              <a:rPr lang="en-US" sz="1500" dirty="0">
                <a:solidFill>
                  <a:srgbClr val="22263F"/>
                </a:solidFill>
                <a:latin typeface="Calibri" pitchFamily="34" charset="0"/>
                <a:ea typeface="Calibri" pitchFamily="34" charset="-122"/>
                <a:cs typeface="Calibri" pitchFamily="34" charset="-120"/>
              </a:rPr>
              <a:t>Nearly a trillion dollars was erased from software stocks after Anthropic’s Claude Cowork showed that autonomous agents can do the professional work that once justified expensive monthly subscriptions. The book takes this event as its starting point.</a:t>
            </a:r>
            <a:endParaRPr lang="en-US" sz="1500" dirty="0"/>
          </a:p>
        </p:txBody>
      </p:sp>
      <p:sp>
        <p:nvSpPr>
          <p:cNvPr id="5" name="Shape 3"/>
          <p:cNvSpPr/>
          <p:nvPr/>
        </p:nvSpPr>
        <p:spPr>
          <a:xfrm>
            <a:off x="7178040" y="822960"/>
            <a:ext cx="4480560" cy="5029200"/>
          </a:xfrm>
          <a:prstGeom prst="roundRect">
            <a:avLst>
              <a:gd name="adj" fmla="val 2449"/>
            </a:avLst>
          </a:prstGeom>
          <a:solidFill>
            <a:srgbClr val="1B1F3B"/>
          </a:solidFill>
          <a:ln/>
        </p:spPr>
      </p:sp>
      <p:sp>
        <p:nvSpPr>
          <p:cNvPr id="6" name="Text 4"/>
          <p:cNvSpPr txBox="1"/>
          <p:nvPr/>
        </p:nvSpPr>
        <p:spPr>
          <a:xfrm>
            <a:off x="7178040" y="1371600"/>
            <a:ext cx="4480560" cy="1463040"/>
          </a:xfrm>
          <a:prstGeom prst="rect">
            <a:avLst/>
          </a:prstGeom>
          <a:noFill/>
          <a:ln/>
        </p:spPr>
        <p:txBody>
          <a:bodyPr wrap="square" lIns="0" tIns="0" rIns="0" bIns="0" rtlCol="0" anchor="ctr"/>
          <a:lstStyle/>
          <a:p>
            <a:pPr algn="ctr" indent="0" marL="0">
              <a:buNone/>
            </a:pPr>
            <a:r>
              <a:rPr lang="en-US" sz="7200" b="1" dirty="0">
                <a:solidFill>
                  <a:srgbClr val="00D9C0"/>
                </a:solidFill>
                <a:latin typeface="Cambria" pitchFamily="34" charset="0"/>
                <a:ea typeface="Cambria" pitchFamily="34" charset="-122"/>
                <a:cs typeface="Cambria" pitchFamily="34" charset="-120"/>
              </a:rPr>
              <a:t>~$1</a:t>
            </a:r>
            <a:endParaRPr lang="en-US" sz="7200" dirty="0"/>
          </a:p>
        </p:txBody>
      </p:sp>
      <p:sp>
        <p:nvSpPr>
          <p:cNvPr id="7" name="Text 5"/>
          <p:cNvSpPr txBox="1"/>
          <p:nvPr/>
        </p:nvSpPr>
        <p:spPr>
          <a:xfrm>
            <a:off x="7178040" y="2697480"/>
            <a:ext cx="4480560" cy="457200"/>
          </a:xfrm>
          <a:prstGeom prst="rect">
            <a:avLst/>
          </a:prstGeom>
          <a:noFill/>
          <a:ln/>
        </p:spPr>
        <p:txBody>
          <a:bodyPr wrap="square" lIns="0" tIns="0" rIns="0" bIns="0" rtlCol="0" anchor="ctr"/>
          <a:lstStyle/>
          <a:p>
            <a:pPr algn="ctr" indent="0" marL="0">
              <a:buNone/>
            </a:pPr>
            <a:r>
              <a:rPr lang="en-US" sz="2000" b="1" spc="300" kern="0" dirty="0">
                <a:solidFill>
                  <a:srgbClr val="FFFFFF"/>
                </a:solidFill>
                <a:latin typeface="Calibri" pitchFamily="34" charset="0"/>
                <a:ea typeface="Calibri" pitchFamily="34" charset="-122"/>
                <a:cs typeface="Calibri" pitchFamily="34" charset="-120"/>
              </a:rPr>
              <a:t>TRILLION</a:t>
            </a:r>
            <a:endParaRPr lang="en-US" sz="2000" dirty="0"/>
          </a:p>
        </p:txBody>
      </p:sp>
      <p:sp>
        <p:nvSpPr>
          <p:cNvPr id="8" name="Shape 6"/>
          <p:cNvSpPr/>
          <p:nvPr/>
        </p:nvSpPr>
        <p:spPr>
          <a:xfrm>
            <a:off x="8778240" y="3337560"/>
            <a:ext cx="1280160" cy="27432"/>
          </a:xfrm>
          <a:prstGeom prst="rect">
            <a:avLst/>
          </a:prstGeom>
          <a:solidFill>
            <a:srgbClr val="00D9C0"/>
          </a:solidFill>
          <a:ln/>
        </p:spPr>
      </p:sp>
      <p:sp>
        <p:nvSpPr>
          <p:cNvPr id="9" name="Text 7"/>
          <p:cNvSpPr txBox="1"/>
          <p:nvPr/>
        </p:nvSpPr>
        <p:spPr>
          <a:xfrm>
            <a:off x="7635240" y="3611880"/>
            <a:ext cx="3566160" cy="2011680"/>
          </a:xfrm>
          <a:prstGeom prst="rect">
            <a:avLst/>
          </a:prstGeom>
          <a:noFill/>
          <a:ln/>
        </p:spPr>
        <p:txBody>
          <a:bodyPr wrap="square" lIns="0" tIns="0" rIns="0" bIns="0" rtlCol="0" anchor="ctr"/>
          <a:lstStyle/>
          <a:p>
            <a:pPr algn="ctr" indent="0" marL="0">
              <a:lnSpc>
                <a:spcPct val="130000"/>
              </a:lnSpc>
              <a:buNone/>
            </a:pPr>
            <a:r>
              <a:rPr lang="en-US" sz="1300" dirty="0">
                <a:solidFill>
                  <a:srgbClr val="E8EDF7"/>
                </a:solidFill>
                <a:latin typeface="Calibri" pitchFamily="34" charset="0"/>
                <a:ea typeface="Calibri" pitchFamily="34" charset="-122"/>
                <a:cs typeface="Calibri" pitchFamily="34" charset="-120"/>
              </a:rPr>
              <a:t>erased from software-stock valuations in a single month, as markets priced in agents doing the work software used to merely assist with.</a:t>
            </a:r>
            <a:endParaRPr lang="en-US" sz="1300" dirty="0"/>
          </a:p>
        </p:txBody>
      </p:sp>
      <p:sp>
        <p:nvSpPr>
          <p:cNvPr id="10" name="Text 8"/>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9AA0BE"/>
                </a:solidFill>
                <a:latin typeface="Calibri" pitchFamily="34" charset="0"/>
                <a:ea typeface="Calibri" pitchFamily="34" charset="-122"/>
                <a:cs typeface="Calibri" pitchFamily="34" charset="-120"/>
              </a:rPr>
              <a:t>agentfactory.panaversity.org</a:t>
            </a:r>
            <a:endParaRPr lang="en-US" sz="1000" dirty="0"/>
          </a:p>
        </p:txBody>
      </p:sp>
      <p:sp>
        <p:nvSpPr>
          <p:cNvPr id="11" name="Text 9"/>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9AA0B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49C8C"/>
                </a:solidFill>
                <a:latin typeface="Calibri" pitchFamily="34" charset="0"/>
                <a:ea typeface="Calibri" pitchFamily="34" charset="-122"/>
                <a:cs typeface="Calibri" pitchFamily="34" charset="-120"/>
              </a:rPr>
              <a:t>VOCABULARY</a:t>
            </a:r>
            <a:endParaRPr lang="en-US" sz="1300" dirty="0"/>
          </a:p>
        </p:txBody>
      </p:sp>
      <p:sp>
        <p:nvSpPr>
          <p:cNvPr id="3" name="Text 1"/>
          <p:cNvSpPr txBox="1"/>
          <p:nvPr/>
        </p:nvSpPr>
        <p:spPr>
          <a:xfrm>
            <a:off x="548640" y="777240"/>
            <a:ext cx="8229600" cy="1188720"/>
          </a:xfrm>
          <a:prstGeom prst="rect">
            <a:avLst/>
          </a:prstGeom>
          <a:noFill/>
          <a:ln/>
        </p:spPr>
        <p:txBody>
          <a:bodyPr wrap="square" lIns="0" tIns="0" rIns="0" bIns="0" rtlCol="0" anchor="ctr"/>
          <a:lstStyle/>
          <a:p>
            <a:pPr indent="0" marL="0">
              <a:lnSpc>
                <a:spcPct val="105000"/>
              </a:lnSpc>
              <a:buNone/>
            </a:pPr>
            <a:r>
              <a:rPr lang="en-US" sz="3000" b="1" dirty="0">
                <a:solidFill>
                  <a:srgbClr val="1B1F3B"/>
                </a:solidFill>
                <a:latin typeface="Cambria" pitchFamily="34" charset="0"/>
                <a:ea typeface="Cambria" pitchFamily="34" charset="-122"/>
                <a:cs typeface="Cambria" pitchFamily="34" charset="-120"/>
              </a:rPr>
              <a:t>Four terms that define</a:t>
            </a:r>
            <a:endParaRPr lang="en-US" sz="3000" dirty="0"/>
          </a:p>
          <a:p>
            <a:pPr indent="0" marL="0">
              <a:lnSpc>
                <a:spcPct val="105000"/>
              </a:lnSpc>
              <a:buNone/>
            </a:pPr>
            <a:r>
              <a:rPr lang="en-US" sz="3000" b="1" dirty="0">
                <a:solidFill>
                  <a:srgbClr val="1B1F3B"/>
                </a:solidFill>
                <a:latin typeface="Cambria" pitchFamily="34" charset="0"/>
                <a:ea typeface="Cambria" pitchFamily="34" charset="-122"/>
                <a:cs typeface="Cambria" pitchFamily="34" charset="-120"/>
              </a:rPr>
              <a:t>everything else in the book</a:t>
            </a:r>
            <a:endParaRPr lang="en-US" sz="3000" dirty="0"/>
          </a:p>
        </p:txBody>
      </p:sp>
      <p:sp>
        <p:nvSpPr>
          <p:cNvPr id="4" name="Shape 2"/>
          <p:cNvSpPr/>
          <p:nvPr/>
        </p:nvSpPr>
        <p:spPr>
          <a:xfrm>
            <a:off x="548640" y="2148840"/>
            <a:ext cx="5349240" cy="1828800"/>
          </a:xfrm>
          <a:prstGeom prst="roundRect">
            <a:avLst>
              <a:gd name="adj" fmla="val 5000"/>
            </a:avLst>
          </a:prstGeom>
          <a:solidFill>
            <a:srgbClr val="E8EDF7"/>
          </a:solidFill>
          <a:ln/>
        </p:spPr>
      </p:sp>
      <p:sp>
        <p:nvSpPr>
          <p:cNvPr id="5" name="Shape 3"/>
          <p:cNvSpPr/>
          <p:nvPr/>
        </p:nvSpPr>
        <p:spPr>
          <a:xfrm>
            <a:off x="822960" y="2423160"/>
            <a:ext cx="457200" cy="457200"/>
          </a:xfrm>
          <a:prstGeom prst="ellipse">
            <a:avLst/>
          </a:prstGeom>
          <a:solidFill>
            <a:srgbClr val="049C8C"/>
          </a:solidFill>
          <a:ln/>
        </p:spPr>
      </p:sp>
      <p:sp>
        <p:nvSpPr>
          <p:cNvPr id="6" name="Text 4"/>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463040" y="2350008"/>
            <a:ext cx="4206240" cy="457200"/>
          </a:xfrm>
          <a:prstGeom prst="rect">
            <a:avLst/>
          </a:prstGeom>
          <a:noFill/>
          <a:ln/>
        </p:spPr>
        <p:txBody>
          <a:bodyPr wrap="square" lIns="0" tIns="0" rIns="0" bIns="0" rtlCol="0" anchor="ctr"/>
          <a:lstStyle/>
          <a:p>
            <a:pPr indent="0" marL="0">
              <a:buNone/>
            </a:pPr>
            <a:r>
              <a:rPr lang="en-US" sz="1700" b="1" dirty="0">
                <a:solidFill>
                  <a:srgbClr val="1B1F3B"/>
                </a:solidFill>
                <a:latin typeface="Cambria" pitchFamily="34" charset="0"/>
                <a:ea typeface="Cambria" pitchFamily="34" charset="-122"/>
                <a:cs typeface="Cambria" pitchFamily="34" charset="-120"/>
              </a:rPr>
              <a:t>Digital FTE</a:t>
            </a:r>
            <a:endParaRPr lang="en-US" sz="1700" dirty="0"/>
          </a:p>
        </p:txBody>
      </p:sp>
      <p:sp>
        <p:nvSpPr>
          <p:cNvPr id="8" name="Text 6"/>
          <p:cNvSpPr txBox="1"/>
          <p:nvPr/>
        </p:nvSpPr>
        <p:spPr>
          <a:xfrm>
            <a:off x="822960" y="2926080"/>
            <a:ext cx="4846320" cy="960120"/>
          </a:xfrm>
          <a:prstGeom prst="rect">
            <a:avLst/>
          </a:prstGeom>
          <a:noFill/>
          <a:ln/>
        </p:spPr>
        <p:txBody>
          <a:bodyPr wrap="square" lIns="0" tIns="0" rIns="0" bIns="0" rtlCol="0" anchor="ctr"/>
          <a:lstStyle/>
          <a:p>
            <a:pPr indent="0" marL="0">
              <a:lnSpc>
                <a:spcPct val="125000"/>
              </a:lnSpc>
              <a:buNone/>
            </a:pPr>
            <a:r>
              <a:rPr lang="en-US" sz="1250" dirty="0">
                <a:solidFill>
                  <a:srgbClr val="6B7089"/>
                </a:solidFill>
                <a:latin typeface="Calibri" pitchFamily="34" charset="0"/>
                <a:ea typeface="Calibri" pitchFamily="34" charset="-122"/>
                <a:cs typeface="Calibri" pitchFamily="34" charset="-120"/>
              </a:rPr>
              <a:t>An AI employee (also “AI Worker”) that works under human supervision — hired, assigned, and rostered like a team member.</a:t>
            </a:r>
            <a:endParaRPr lang="en-US" sz="1250" dirty="0"/>
          </a:p>
        </p:txBody>
      </p:sp>
      <p:sp>
        <p:nvSpPr>
          <p:cNvPr id="9" name="Shape 7"/>
          <p:cNvSpPr/>
          <p:nvPr/>
        </p:nvSpPr>
        <p:spPr>
          <a:xfrm>
            <a:off x="6309360" y="2148840"/>
            <a:ext cx="5349240" cy="1828800"/>
          </a:xfrm>
          <a:prstGeom prst="roundRect">
            <a:avLst>
              <a:gd name="adj" fmla="val 5000"/>
            </a:avLst>
          </a:prstGeom>
          <a:solidFill>
            <a:srgbClr val="E8EDF7"/>
          </a:solidFill>
          <a:ln/>
        </p:spPr>
      </p:sp>
      <p:sp>
        <p:nvSpPr>
          <p:cNvPr id="10" name="Shape 8"/>
          <p:cNvSpPr/>
          <p:nvPr/>
        </p:nvSpPr>
        <p:spPr>
          <a:xfrm>
            <a:off x="6583680" y="2423160"/>
            <a:ext cx="457200" cy="457200"/>
          </a:xfrm>
          <a:prstGeom prst="ellipse">
            <a:avLst/>
          </a:prstGeom>
          <a:solidFill>
            <a:srgbClr val="049C8C"/>
          </a:solidFill>
          <a:ln/>
        </p:spPr>
      </p:sp>
      <p:sp>
        <p:nvSpPr>
          <p:cNvPr id="11" name="Text 9"/>
          <p:cNvSpPr txBox="1"/>
          <p:nvPr/>
        </p:nvSpPr>
        <p:spPr>
          <a:xfrm>
            <a:off x="658368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223760" y="2350008"/>
            <a:ext cx="4206240" cy="457200"/>
          </a:xfrm>
          <a:prstGeom prst="rect">
            <a:avLst/>
          </a:prstGeom>
          <a:noFill/>
          <a:ln/>
        </p:spPr>
        <p:txBody>
          <a:bodyPr wrap="square" lIns="0" tIns="0" rIns="0" bIns="0" rtlCol="0" anchor="ctr"/>
          <a:lstStyle/>
          <a:p>
            <a:pPr indent="0" marL="0">
              <a:buNone/>
            </a:pPr>
            <a:r>
              <a:rPr lang="en-US" sz="1700" b="1" dirty="0">
                <a:solidFill>
                  <a:srgbClr val="1B1F3B"/>
                </a:solidFill>
                <a:latin typeface="Cambria" pitchFamily="34" charset="0"/>
                <a:ea typeface="Cambria" pitchFamily="34" charset="-122"/>
                <a:cs typeface="Cambria" pitchFamily="34" charset="-120"/>
              </a:rPr>
              <a:t>Spec-Driven Development</a:t>
            </a:r>
            <a:endParaRPr lang="en-US" sz="1700" dirty="0"/>
          </a:p>
        </p:txBody>
      </p:sp>
      <p:sp>
        <p:nvSpPr>
          <p:cNvPr id="13" name="Text 11"/>
          <p:cNvSpPr txBox="1"/>
          <p:nvPr/>
        </p:nvSpPr>
        <p:spPr>
          <a:xfrm>
            <a:off x="6583680" y="2926080"/>
            <a:ext cx="4846320" cy="960120"/>
          </a:xfrm>
          <a:prstGeom prst="rect">
            <a:avLst/>
          </a:prstGeom>
          <a:noFill/>
          <a:ln/>
        </p:spPr>
        <p:txBody>
          <a:bodyPr wrap="square" lIns="0" tIns="0" rIns="0" bIns="0" rtlCol="0" anchor="ctr"/>
          <a:lstStyle/>
          <a:p>
            <a:pPr indent="0" marL="0">
              <a:lnSpc>
                <a:spcPct val="125000"/>
              </a:lnSpc>
              <a:buNone/>
            </a:pPr>
            <a:r>
              <a:rPr lang="en-US" sz="1250" dirty="0">
                <a:solidFill>
                  <a:srgbClr val="6B7089"/>
                </a:solidFill>
                <a:latin typeface="Calibri" pitchFamily="34" charset="0"/>
                <a:ea typeface="Calibri" pitchFamily="34" charset="-122"/>
                <a:cs typeface="Calibri" pitchFamily="34" charset="-120"/>
              </a:rPr>
              <a:t>Specs are the source of truth; AI generates the code and the agent from them, rather than a human writing it by hand.</a:t>
            </a:r>
            <a:endParaRPr lang="en-US" sz="1250" dirty="0"/>
          </a:p>
        </p:txBody>
      </p:sp>
      <p:sp>
        <p:nvSpPr>
          <p:cNvPr id="14" name="Shape 12"/>
          <p:cNvSpPr/>
          <p:nvPr/>
        </p:nvSpPr>
        <p:spPr>
          <a:xfrm>
            <a:off x="548640" y="4160520"/>
            <a:ext cx="5349240" cy="1828800"/>
          </a:xfrm>
          <a:prstGeom prst="roundRect">
            <a:avLst>
              <a:gd name="adj" fmla="val 5000"/>
            </a:avLst>
          </a:prstGeom>
          <a:solidFill>
            <a:srgbClr val="E8EDF7"/>
          </a:solidFill>
          <a:ln/>
        </p:spPr>
      </p:sp>
      <p:sp>
        <p:nvSpPr>
          <p:cNvPr id="15" name="Shape 13"/>
          <p:cNvSpPr/>
          <p:nvPr/>
        </p:nvSpPr>
        <p:spPr>
          <a:xfrm>
            <a:off x="822960" y="4434840"/>
            <a:ext cx="457200" cy="457200"/>
          </a:xfrm>
          <a:prstGeom prst="ellipse">
            <a:avLst/>
          </a:prstGeom>
          <a:solidFill>
            <a:srgbClr val="049C8C"/>
          </a:solidFill>
          <a:ln/>
        </p:spPr>
      </p:sp>
      <p:sp>
        <p:nvSpPr>
          <p:cNvPr id="16" name="Text 14"/>
          <p:cNvSpPr txBox="1"/>
          <p:nvPr/>
        </p:nvSpPr>
        <p:spPr>
          <a:xfrm>
            <a:off x="82296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463040" y="4361688"/>
            <a:ext cx="4206240" cy="457200"/>
          </a:xfrm>
          <a:prstGeom prst="rect">
            <a:avLst/>
          </a:prstGeom>
          <a:noFill/>
          <a:ln/>
        </p:spPr>
        <p:txBody>
          <a:bodyPr wrap="square" lIns="0" tIns="0" rIns="0" bIns="0" rtlCol="0" anchor="ctr"/>
          <a:lstStyle/>
          <a:p>
            <a:pPr indent="0" marL="0">
              <a:buNone/>
            </a:pPr>
            <a:r>
              <a:rPr lang="en-US" sz="1700" b="1" dirty="0">
                <a:solidFill>
                  <a:srgbClr val="1B1F3B"/>
                </a:solidFill>
                <a:latin typeface="Cambria" pitchFamily="34" charset="0"/>
                <a:ea typeface="Cambria" pitchFamily="34" charset="-122"/>
                <a:cs typeface="Cambria" pitchFamily="34" charset="-120"/>
              </a:rPr>
              <a:t>Agent Skill</a:t>
            </a:r>
            <a:endParaRPr lang="en-US" sz="1700" dirty="0"/>
          </a:p>
        </p:txBody>
      </p:sp>
      <p:sp>
        <p:nvSpPr>
          <p:cNvPr id="18" name="Text 16"/>
          <p:cNvSpPr txBox="1"/>
          <p:nvPr/>
        </p:nvSpPr>
        <p:spPr>
          <a:xfrm>
            <a:off x="822960" y="4937760"/>
            <a:ext cx="4846320" cy="960120"/>
          </a:xfrm>
          <a:prstGeom prst="rect">
            <a:avLst/>
          </a:prstGeom>
          <a:noFill/>
          <a:ln/>
        </p:spPr>
        <p:txBody>
          <a:bodyPr wrap="square" lIns="0" tIns="0" rIns="0" bIns="0" rtlCol="0" anchor="ctr"/>
          <a:lstStyle/>
          <a:p>
            <a:pPr indent="0" marL="0">
              <a:lnSpc>
                <a:spcPct val="125000"/>
              </a:lnSpc>
              <a:buNone/>
            </a:pPr>
            <a:r>
              <a:rPr lang="en-US" sz="1250" dirty="0">
                <a:solidFill>
                  <a:srgbClr val="6B7089"/>
                </a:solidFill>
                <a:latin typeface="Calibri" pitchFamily="34" charset="0"/>
                <a:ea typeface="Calibri" pitchFamily="34" charset="-122"/>
                <a:cs typeface="Calibri" pitchFamily="34" charset="-120"/>
              </a:rPr>
              <a:t>Reusable expertise packaged as a single SKILL.md file — teach an AI a task once, reuse it forever.</a:t>
            </a:r>
            <a:endParaRPr lang="en-US" sz="1250" dirty="0"/>
          </a:p>
        </p:txBody>
      </p:sp>
      <p:sp>
        <p:nvSpPr>
          <p:cNvPr id="19" name="Shape 17"/>
          <p:cNvSpPr/>
          <p:nvPr/>
        </p:nvSpPr>
        <p:spPr>
          <a:xfrm>
            <a:off x="6309360" y="4160520"/>
            <a:ext cx="5349240" cy="1828800"/>
          </a:xfrm>
          <a:prstGeom prst="roundRect">
            <a:avLst>
              <a:gd name="adj" fmla="val 5000"/>
            </a:avLst>
          </a:prstGeom>
          <a:solidFill>
            <a:srgbClr val="E8EDF7"/>
          </a:solidFill>
          <a:ln/>
        </p:spPr>
      </p:sp>
      <p:sp>
        <p:nvSpPr>
          <p:cNvPr id="20" name="Shape 18"/>
          <p:cNvSpPr/>
          <p:nvPr/>
        </p:nvSpPr>
        <p:spPr>
          <a:xfrm>
            <a:off x="6583680" y="4434840"/>
            <a:ext cx="457200" cy="457200"/>
          </a:xfrm>
          <a:prstGeom prst="ellipse">
            <a:avLst/>
          </a:prstGeom>
          <a:solidFill>
            <a:srgbClr val="049C8C"/>
          </a:solidFill>
          <a:ln/>
        </p:spPr>
      </p:sp>
      <p:sp>
        <p:nvSpPr>
          <p:cNvPr id="21" name="Text 19"/>
          <p:cNvSpPr txBox="1"/>
          <p:nvPr/>
        </p:nvSpPr>
        <p:spPr>
          <a:xfrm>
            <a:off x="658368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223760" y="4361688"/>
            <a:ext cx="4206240" cy="457200"/>
          </a:xfrm>
          <a:prstGeom prst="rect">
            <a:avLst/>
          </a:prstGeom>
          <a:noFill/>
          <a:ln/>
        </p:spPr>
        <p:txBody>
          <a:bodyPr wrap="square" lIns="0" tIns="0" rIns="0" bIns="0" rtlCol="0" anchor="ctr"/>
          <a:lstStyle/>
          <a:p>
            <a:pPr indent="0" marL="0">
              <a:buNone/>
            </a:pPr>
            <a:r>
              <a:rPr lang="en-US" sz="1700" b="1" dirty="0">
                <a:solidFill>
                  <a:srgbClr val="1B1F3B"/>
                </a:solidFill>
                <a:latin typeface="Cambria" pitchFamily="34" charset="0"/>
                <a:ea typeface="Cambria" pitchFamily="34" charset="-122"/>
                <a:cs typeface="Cambria" pitchFamily="34" charset="-120"/>
              </a:rPr>
              <a:t>MCP</a:t>
            </a:r>
            <a:endParaRPr lang="en-US" sz="1700" dirty="0"/>
          </a:p>
        </p:txBody>
      </p:sp>
      <p:sp>
        <p:nvSpPr>
          <p:cNvPr id="23" name="Text 21"/>
          <p:cNvSpPr txBox="1"/>
          <p:nvPr/>
        </p:nvSpPr>
        <p:spPr>
          <a:xfrm>
            <a:off x="6583680" y="4937760"/>
            <a:ext cx="4846320" cy="960120"/>
          </a:xfrm>
          <a:prstGeom prst="rect">
            <a:avLst/>
          </a:prstGeom>
          <a:noFill/>
          <a:ln/>
        </p:spPr>
        <p:txBody>
          <a:bodyPr wrap="square" lIns="0" tIns="0" rIns="0" bIns="0" rtlCol="0" anchor="ctr"/>
          <a:lstStyle/>
          <a:p>
            <a:pPr indent="0" marL="0">
              <a:lnSpc>
                <a:spcPct val="125000"/>
              </a:lnSpc>
              <a:buNone/>
            </a:pPr>
            <a:r>
              <a:rPr lang="en-US" sz="1250" dirty="0">
                <a:solidFill>
                  <a:srgbClr val="6B7089"/>
                </a:solidFill>
                <a:latin typeface="Calibri" pitchFamily="34" charset="0"/>
                <a:ea typeface="Calibri" pitchFamily="34" charset="-122"/>
                <a:cs typeface="Calibri" pitchFamily="34" charset="-120"/>
              </a:rPr>
              <a:t>The Model Context Protocol: the universal, safe standard that lets any AI agent connect to any tool or app.</a:t>
            </a:r>
            <a:endParaRPr lang="en-US" sz="1250" dirty="0"/>
          </a:p>
        </p:txBody>
      </p:sp>
      <p:sp>
        <p:nvSpPr>
          <p:cNvPr id="24" name="Text 2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9AA0BE"/>
                </a:solidFill>
                <a:latin typeface="Calibri" pitchFamily="34" charset="0"/>
                <a:ea typeface="Calibri" pitchFamily="34" charset="-122"/>
                <a:cs typeface="Calibri" pitchFamily="34" charset="-120"/>
              </a:rPr>
              <a:t>agentfactory.panaversity.org</a:t>
            </a:r>
            <a:endParaRPr lang="en-US" sz="1000" dirty="0"/>
          </a:p>
        </p:txBody>
      </p:sp>
      <p:sp>
        <p:nvSpPr>
          <p:cNvPr id="25" name="Text 23"/>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9AA0B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0D9C0"/>
                </a:solidFill>
                <a:latin typeface="Calibri" pitchFamily="34" charset="0"/>
                <a:ea typeface="Calibri" pitchFamily="34" charset="-122"/>
                <a:cs typeface="Calibri" pitchFamily="34" charset="-120"/>
              </a:rPr>
              <a:t>THE OPERATOR'S LOOP</a:t>
            </a:r>
            <a:endParaRPr lang="en-US" sz="1300" dirty="0"/>
          </a:p>
        </p:txBody>
      </p:sp>
      <p:sp>
        <p:nvSpPr>
          <p:cNvPr id="3" name="Text 1"/>
          <p:cNvSpPr txBox="1"/>
          <p:nvPr/>
        </p:nvSpPr>
        <p:spPr>
          <a:xfrm>
            <a:off x="548640" y="777240"/>
            <a:ext cx="100584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Manufacture. Package. Monetize.</a:t>
            </a:r>
            <a:endParaRPr lang="en-US" sz="3000" dirty="0"/>
          </a:p>
        </p:txBody>
      </p:sp>
      <p:sp>
        <p:nvSpPr>
          <p:cNvPr id="4" name="Text 2"/>
          <p:cNvSpPr txBox="1"/>
          <p:nvPr/>
        </p:nvSpPr>
        <p:spPr>
          <a:xfrm>
            <a:off x="548640" y="1508760"/>
            <a:ext cx="9144000" cy="457200"/>
          </a:xfrm>
          <a:prstGeom prst="rect">
            <a:avLst/>
          </a:prstGeom>
          <a:noFill/>
          <a:ln/>
        </p:spPr>
        <p:txBody>
          <a:bodyPr wrap="square" lIns="0" tIns="0" rIns="0" bIns="0" rtlCol="0" anchor="ctr"/>
          <a:lstStyle/>
          <a:p>
            <a:pPr indent="0" marL="0">
              <a:buNone/>
            </a:pPr>
            <a:r>
              <a:rPr lang="en-US" sz="1500" dirty="0">
                <a:solidFill>
                  <a:srgbClr val="E8EDF7"/>
                </a:solidFill>
                <a:latin typeface="Calibri" pitchFamily="34" charset="0"/>
                <a:ea typeface="Calibri" pitchFamily="34" charset="-122"/>
                <a:cs typeface="Calibri" pitchFamily="34" charset="-120"/>
              </a:rPr>
              <a:t>The three-part loop that runs through the entire course.</a:t>
            </a:r>
            <a:endParaRPr lang="en-US" sz="1500" dirty="0"/>
          </a:p>
        </p:txBody>
      </p:sp>
      <p:sp>
        <p:nvSpPr>
          <p:cNvPr id="5" name="Shape 3"/>
          <p:cNvSpPr/>
          <p:nvPr/>
        </p:nvSpPr>
        <p:spPr>
          <a:xfrm>
            <a:off x="548640" y="2286000"/>
            <a:ext cx="3611880" cy="3657600"/>
          </a:xfrm>
          <a:prstGeom prst="roundRect">
            <a:avLst>
              <a:gd name="adj" fmla="val 2532"/>
            </a:avLst>
          </a:prstGeom>
          <a:solidFill>
            <a:srgbClr val="12152B"/>
          </a:solidFill>
          <a:ln/>
        </p:spPr>
      </p:sp>
      <p:sp>
        <p:nvSpPr>
          <p:cNvPr id="6" name="Text 4"/>
          <p:cNvSpPr txBox="1"/>
          <p:nvPr/>
        </p:nvSpPr>
        <p:spPr>
          <a:xfrm>
            <a:off x="822960" y="2514600"/>
            <a:ext cx="1828800" cy="822960"/>
          </a:xfrm>
          <a:prstGeom prst="rect">
            <a:avLst/>
          </a:prstGeom>
          <a:noFill/>
          <a:ln/>
        </p:spPr>
        <p:txBody>
          <a:bodyPr wrap="square" lIns="0" tIns="0" rIns="0" bIns="0" rtlCol="0" anchor="ctr"/>
          <a:lstStyle/>
          <a:p>
            <a:pPr indent="0" marL="0">
              <a:buNone/>
            </a:pPr>
            <a:r>
              <a:rPr lang="en-US" sz="3400" b="1" dirty="0">
                <a:solidFill>
                  <a:srgbClr val="00D9C0"/>
                </a:solidFill>
                <a:latin typeface="Cambria" pitchFamily="34" charset="0"/>
                <a:ea typeface="Cambria" pitchFamily="34" charset="-122"/>
                <a:cs typeface="Cambria" pitchFamily="34" charset="-120"/>
              </a:rPr>
              <a:t>01</a:t>
            </a:r>
            <a:endParaRPr lang="en-US" sz="3400" dirty="0"/>
          </a:p>
        </p:txBody>
      </p:sp>
      <p:sp>
        <p:nvSpPr>
          <p:cNvPr id="7" name="Text 5"/>
          <p:cNvSpPr txBox="1"/>
          <p:nvPr/>
        </p:nvSpPr>
        <p:spPr>
          <a:xfrm>
            <a:off x="822960" y="3291840"/>
            <a:ext cx="306324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Manufacture</a:t>
            </a:r>
            <a:endParaRPr lang="en-US" sz="2000" dirty="0"/>
          </a:p>
        </p:txBody>
      </p:sp>
      <p:sp>
        <p:nvSpPr>
          <p:cNvPr id="8" name="Text 6"/>
          <p:cNvSpPr txBox="1"/>
          <p:nvPr/>
        </p:nvSpPr>
        <p:spPr>
          <a:xfrm>
            <a:off x="822960" y="3840480"/>
            <a:ext cx="3063240" cy="1920240"/>
          </a:xfrm>
          <a:prstGeom prst="rect">
            <a:avLst/>
          </a:prstGeom>
          <a:noFill/>
          <a:ln/>
        </p:spPr>
        <p:txBody>
          <a:bodyPr wrap="square" lIns="0" tIns="0" rIns="0" bIns="0" rtlCol="0" anchor="ctr"/>
          <a:lstStyle/>
          <a:p>
            <a:pPr indent="0" marL="0">
              <a:lnSpc>
                <a:spcPct val="130000"/>
              </a:lnSpc>
              <a:buNone/>
            </a:pPr>
            <a:r>
              <a:rPr lang="en-US" sz="1300" dirty="0">
                <a:solidFill>
                  <a:srgbClr val="E8EDF7"/>
                </a:solidFill>
                <a:latin typeface="Calibri" pitchFamily="34" charset="0"/>
                <a:ea typeface="Calibri" pitchFamily="34" charset="-122"/>
                <a:cs typeface="Calibri" pitchFamily="34" charset="-120"/>
              </a:rPr>
              <a:t>Build AI Workers from specs — governed, reliable, and grounded in real business domains.</a:t>
            </a:r>
            <a:endParaRPr lang="en-US" sz="1300" dirty="0"/>
          </a:p>
        </p:txBody>
      </p:sp>
      <p:sp>
        <p:nvSpPr>
          <p:cNvPr id="9" name="Shape 7"/>
          <p:cNvSpPr/>
          <p:nvPr/>
        </p:nvSpPr>
        <p:spPr>
          <a:xfrm>
            <a:off x="4389120" y="2286000"/>
            <a:ext cx="3611880" cy="3657600"/>
          </a:xfrm>
          <a:prstGeom prst="roundRect">
            <a:avLst>
              <a:gd name="adj" fmla="val 2532"/>
            </a:avLst>
          </a:prstGeom>
          <a:solidFill>
            <a:srgbClr val="12152B"/>
          </a:solidFill>
          <a:ln/>
        </p:spPr>
      </p:sp>
      <p:sp>
        <p:nvSpPr>
          <p:cNvPr id="10" name="Text 8"/>
          <p:cNvSpPr txBox="1"/>
          <p:nvPr/>
        </p:nvSpPr>
        <p:spPr>
          <a:xfrm>
            <a:off x="4663440" y="2514600"/>
            <a:ext cx="1828800" cy="822960"/>
          </a:xfrm>
          <a:prstGeom prst="rect">
            <a:avLst/>
          </a:prstGeom>
          <a:noFill/>
          <a:ln/>
        </p:spPr>
        <p:txBody>
          <a:bodyPr wrap="square" lIns="0" tIns="0" rIns="0" bIns="0" rtlCol="0" anchor="ctr"/>
          <a:lstStyle/>
          <a:p>
            <a:pPr indent="0" marL="0">
              <a:buNone/>
            </a:pPr>
            <a:r>
              <a:rPr lang="en-US" sz="3400" b="1" dirty="0">
                <a:solidFill>
                  <a:srgbClr val="00D9C0"/>
                </a:solidFill>
                <a:latin typeface="Cambria" pitchFamily="34" charset="0"/>
                <a:ea typeface="Cambria" pitchFamily="34" charset="-122"/>
                <a:cs typeface="Cambria" pitchFamily="34" charset="-120"/>
              </a:rPr>
              <a:t>02</a:t>
            </a:r>
            <a:endParaRPr lang="en-US" sz="3400" dirty="0"/>
          </a:p>
        </p:txBody>
      </p:sp>
      <p:sp>
        <p:nvSpPr>
          <p:cNvPr id="11" name="Text 9"/>
          <p:cNvSpPr txBox="1"/>
          <p:nvPr/>
        </p:nvSpPr>
        <p:spPr>
          <a:xfrm>
            <a:off x="4663440" y="3291840"/>
            <a:ext cx="306324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Package</a:t>
            </a:r>
            <a:endParaRPr lang="en-US" sz="2000" dirty="0"/>
          </a:p>
        </p:txBody>
      </p:sp>
      <p:sp>
        <p:nvSpPr>
          <p:cNvPr id="12" name="Text 10"/>
          <p:cNvSpPr txBox="1"/>
          <p:nvPr/>
        </p:nvSpPr>
        <p:spPr>
          <a:xfrm>
            <a:off x="4663440" y="3840480"/>
            <a:ext cx="3063240" cy="1920240"/>
          </a:xfrm>
          <a:prstGeom prst="rect">
            <a:avLst/>
          </a:prstGeom>
          <a:noFill/>
          <a:ln/>
        </p:spPr>
        <p:txBody>
          <a:bodyPr wrap="square" lIns="0" tIns="0" rIns="0" bIns="0" rtlCol="0" anchor="ctr"/>
          <a:lstStyle/>
          <a:p>
            <a:pPr indent="0" marL="0">
              <a:lnSpc>
                <a:spcPct val="130000"/>
              </a:lnSpc>
              <a:buNone/>
            </a:pPr>
            <a:r>
              <a:rPr lang="en-US" sz="1300" dirty="0">
                <a:solidFill>
                  <a:srgbClr val="E8EDF7"/>
                </a:solidFill>
                <a:latin typeface="Calibri" pitchFamily="34" charset="0"/>
                <a:ea typeface="Calibri" pitchFamily="34" charset="-122"/>
                <a:cs typeface="Calibri" pitchFamily="34" charset="-120"/>
              </a:rPr>
              <a:t>Turn a working agent into a deployable, supervised product with clear roles and guardrails.</a:t>
            </a:r>
            <a:endParaRPr lang="en-US" sz="1300" dirty="0"/>
          </a:p>
        </p:txBody>
      </p:sp>
      <p:sp>
        <p:nvSpPr>
          <p:cNvPr id="13" name="Shape 11"/>
          <p:cNvSpPr/>
          <p:nvPr/>
        </p:nvSpPr>
        <p:spPr>
          <a:xfrm>
            <a:off x="8229600" y="2286000"/>
            <a:ext cx="3611880" cy="3657600"/>
          </a:xfrm>
          <a:prstGeom prst="roundRect">
            <a:avLst>
              <a:gd name="adj" fmla="val 2532"/>
            </a:avLst>
          </a:prstGeom>
          <a:solidFill>
            <a:srgbClr val="12152B"/>
          </a:solidFill>
          <a:ln/>
        </p:spPr>
      </p:sp>
      <p:sp>
        <p:nvSpPr>
          <p:cNvPr id="14" name="Text 12"/>
          <p:cNvSpPr txBox="1"/>
          <p:nvPr/>
        </p:nvSpPr>
        <p:spPr>
          <a:xfrm>
            <a:off x="8503920" y="2514600"/>
            <a:ext cx="1828800" cy="822960"/>
          </a:xfrm>
          <a:prstGeom prst="rect">
            <a:avLst/>
          </a:prstGeom>
          <a:noFill/>
          <a:ln/>
        </p:spPr>
        <p:txBody>
          <a:bodyPr wrap="square" lIns="0" tIns="0" rIns="0" bIns="0" rtlCol="0" anchor="ctr"/>
          <a:lstStyle/>
          <a:p>
            <a:pPr indent="0" marL="0">
              <a:buNone/>
            </a:pPr>
            <a:r>
              <a:rPr lang="en-US" sz="3400" b="1" dirty="0">
                <a:solidFill>
                  <a:srgbClr val="00D9C0"/>
                </a:solidFill>
                <a:latin typeface="Cambria" pitchFamily="34" charset="0"/>
                <a:ea typeface="Cambria" pitchFamily="34" charset="-122"/>
                <a:cs typeface="Cambria" pitchFamily="34" charset="-120"/>
              </a:rPr>
              <a:t>03</a:t>
            </a:r>
            <a:endParaRPr lang="en-US" sz="3400" dirty="0"/>
          </a:p>
        </p:txBody>
      </p:sp>
      <p:sp>
        <p:nvSpPr>
          <p:cNvPr id="15" name="Text 13"/>
          <p:cNvSpPr txBox="1"/>
          <p:nvPr/>
        </p:nvSpPr>
        <p:spPr>
          <a:xfrm>
            <a:off x="8503920" y="3291840"/>
            <a:ext cx="306324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Monetize</a:t>
            </a:r>
            <a:endParaRPr lang="en-US" sz="2000" dirty="0"/>
          </a:p>
        </p:txBody>
      </p:sp>
      <p:sp>
        <p:nvSpPr>
          <p:cNvPr id="16" name="Text 14"/>
          <p:cNvSpPr txBox="1"/>
          <p:nvPr/>
        </p:nvSpPr>
        <p:spPr>
          <a:xfrm>
            <a:off x="8503920" y="3840480"/>
            <a:ext cx="3063240" cy="1920240"/>
          </a:xfrm>
          <a:prstGeom prst="rect">
            <a:avLst/>
          </a:prstGeom>
          <a:noFill/>
          <a:ln/>
        </p:spPr>
        <p:txBody>
          <a:bodyPr wrap="square" lIns="0" tIns="0" rIns="0" bIns="0" rtlCol="0" anchor="ctr"/>
          <a:lstStyle/>
          <a:p>
            <a:pPr indent="0" marL="0">
              <a:lnSpc>
                <a:spcPct val="130000"/>
              </a:lnSpc>
              <a:buNone/>
            </a:pPr>
            <a:r>
              <a:rPr lang="en-US" sz="1300" dirty="0">
                <a:solidFill>
                  <a:srgbClr val="E8EDF7"/>
                </a:solidFill>
                <a:latin typeface="Calibri" pitchFamily="34" charset="0"/>
                <a:ea typeface="Calibri" pitchFamily="34" charset="-122"/>
                <a:cs typeface="Calibri" pitchFamily="34" charset="-120"/>
              </a:rPr>
              <a:t>Sell outcomes and results, not seats or subscriptions — the way the Agent Factory era gets paid.</a:t>
            </a:r>
            <a:endParaRPr lang="en-US" sz="1300" dirty="0"/>
          </a:p>
        </p:txBody>
      </p:sp>
      <p:sp>
        <p:nvSpPr>
          <p:cNvPr id="17" name="Text 1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8A8FB0"/>
                </a:solidFill>
                <a:latin typeface="Calibri" pitchFamily="34" charset="0"/>
                <a:ea typeface="Calibri" pitchFamily="34" charset="-122"/>
                <a:cs typeface="Calibri" pitchFamily="34" charset="-120"/>
              </a:rPr>
              <a:t>agentfactory.panaversity.org</a:t>
            </a:r>
            <a:endParaRPr lang="en-US" sz="1000" dirty="0"/>
          </a:p>
        </p:txBody>
      </p:sp>
      <p:sp>
        <p:nvSpPr>
          <p:cNvPr id="18" name="Text 16"/>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8A8FB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49C8C"/>
                </a:solidFill>
                <a:latin typeface="Calibri" pitchFamily="34" charset="0"/>
                <a:ea typeface="Calibri" pitchFamily="34" charset="-122"/>
                <a:cs typeface="Calibri" pitchFamily="34" charset="-120"/>
              </a:rPr>
              <a:t>THE PATH</a:t>
            </a:r>
            <a:endParaRPr lang="en-US" sz="1300" dirty="0"/>
          </a:p>
        </p:txBody>
      </p:sp>
      <p:sp>
        <p:nvSpPr>
          <p:cNvPr id="3" name="Text 1"/>
          <p:cNvSpPr txBox="1"/>
          <p:nvPr/>
        </p:nvSpPr>
        <p:spPr>
          <a:xfrm>
            <a:off x="548640" y="777240"/>
            <a:ext cx="7315200" cy="1280160"/>
          </a:xfrm>
          <a:prstGeom prst="rect">
            <a:avLst/>
          </a:prstGeom>
          <a:noFill/>
          <a:ln/>
        </p:spPr>
        <p:txBody>
          <a:bodyPr wrap="square" lIns="0" tIns="0" rIns="0" bIns="0" rtlCol="0" anchor="ctr"/>
          <a:lstStyle/>
          <a:p>
            <a:pPr indent="0" marL="0">
              <a:lnSpc>
                <a:spcPct val="105000"/>
              </a:lnSpc>
              <a:buNone/>
            </a:pPr>
            <a:r>
              <a:rPr lang="en-US" sz="3000" b="1" dirty="0">
                <a:solidFill>
                  <a:srgbClr val="1B1F3B"/>
                </a:solidFill>
                <a:latin typeface="Cambria" pitchFamily="34" charset="0"/>
                <a:ea typeface="Cambria" pitchFamily="34" charset="-122"/>
                <a:cs typeface="Cambria" pitchFamily="34" charset="-120"/>
              </a:rPr>
              <a:t>From your first hour</a:t>
            </a:r>
            <a:endParaRPr lang="en-US" sz="3000" dirty="0"/>
          </a:p>
          <a:p>
            <a:pPr indent="0" marL="0">
              <a:lnSpc>
                <a:spcPct val="105000"/>
              </a:lnSpc>
              <a:buNone/>
            </a:pPr>
            <a:r>
              <a:rPr lang="en-US" sz="3000" b="1" dirty="0">
                <a:solidFill>
                  <a:srgbClr val="1B1F3B"/>
                </a:solidFill>
                <a:latin typeface="Cambria" pitchFamily="34" charset="0"/>
                <a:ea typeface="Cambria" pitchFamily="34" charset="-122"/>
                <a:cs typeface="Cambria" pitchFamily="34" charset="-120"/>
              </a:rPr>
              <a:t>to a shipped AI Worker</a:t>
            </a:r>
            <a:endParaRPr lang="en-US" sz="3000" dirty="0"/>
          </a:p>
        </p:txBody>
      </p:sp>
      <p:sp>
        <p:nvSpPr>
          <p:cNvPr id="4" name="Shape 2"/>
          <p:cNvSpPr/>
          <p:nvPr/>
        </p:nvSpPr>
        <p:spPr>
          <a:xfrm>
            <a:off x="548640" y="2377440"/>
            <a:ext cx="2606040" cy="3383280"/>
          </a:xfrm>
          <a:prstGeom prst="roundRect">
            <a:avLst>
              <a:gd name="adj" fmla="val 3509"/>
            </a:avLst>
          </a:prstGeom>
          <a:solidFill>
            <a:srgbClr val="E8EDF7"/>
          </a:solidFill>
          <a:ln/>
        </p:spPr>
      </p:sp>
      <p:sp>
        <p:nvSpPr>
          <p:cNvPr id="5" name="Shape 3"/>
          <p:cNvSpPr/>
          <p:nvPr/>
        </p:nvSpPr>
        <p:spPr>
          <a:xfrm>
            <a:off x="777240" y="2651760"/>
            <a:ext cx="457200" cy="457200"/>
          </a:xfrm>
          <a:prstGeom prst="ellipse">
            <a:avLst/>
          </a:prstGeom>
          <a:solidFill>
            <a:srgbClr val="1B1F3B"/>
          </a:solidFill>
          <a:ln/>
        </p:spPr>
      </p:sp>
      <p:sp>
        <p:nvSpPr>
          <p:cNvPr id="6" name="Text 4"/>
          <p:cNvSpPr txBox="1"/>
          <p:nvPr/>
        </p:nvSpPr>
        <p:spPr>
          <a:xfrm>
            <a:off x="777240"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77240" y="3246120"/>
            <a:ext cx="2148840" cy="777240"/>
          </a:xfrm>
          <a:prstGeom prst="rect">
            <a:avLst/>
          </a:prstGeom>
          <a:noFill/>
          <a:ln/>
        </p:spPr>
        <p:txBody>
          <a:bodyPr wrap="square" lIns="0" tIns="0" rIns="0" bIns="0" rtlCol="0" anchor="ctr"/>
          <a:lstStyle/>
          <a:p>
            <a:pPr indent="0" marL="0">
              <a:lnSpc>
                <a:spcPct val="110000"/>
              </a:lnSpc>
              <a:buNone/>
            </a:pPr>
            <a:r>
              <a:rPr lang="en-US" sz="1500" b="1" dirty="0">
                <a:solidFill>
                  <a:srgbClr val="1B1F3B"/>
                </a:solidFill>
                <a:latin typeface="Cambria" pitchFamily="34" charset="0"/>
                <a:ea typeface="Cambria" pitchFamily="34" charset="-122"/>
                <a:cs typeface="Cambria" pitchFamily="34" charset="-120"/>
              </a:rPr>
              <a:t>Foundations</a:t>
            </a:r>
            <a:endParaRPr lang="en-US" sz="1500" dirty="0"/>
          </a:p>
        </p:txBody>
      </p:sp>
      <p:sp>
        <p:nvSpPr>
          <p:cNvPr id="8" name="Text 6"/>
          <p:cNvSpPr txBox="1"/>
          <p:nvPr/>
        </p:nvSpPr>
        <p:spPr>
          <a:xfrm>
            <a:off x="777240" y="4069080"/>
            <a:ext cx="2148840" cy="1554480"/>
          </a:xfrm>
          <a:prstGeom prst="rect">
            <a:avLst/>
          </a:prstGeom>
          <a:noFill/>
          <a:ln/>
        </p:spPr>
        <p:txBody>
          <a:bodyPr wrap="square" lIns="0" tIns="0" rIns="0" bIns="0" rtlCol="0" anchor="ctr"/>
          <a:lstStyle/>
          <a:p>
            <a:pPr indent="0" marL="0">
              <a:lnSpc>
                <a:spcPct val="125000"/>
              </a:lnSpc>
              <a:buNone/>
            </a:pPr>
            <a:r>
              <a:rPr lang="en-US" sz="1150" dirty="0">
                <a:solidFill>
                  <a:srgbClr val="6B7089"/>
                </a:solidFill>
                <a:latin typeface="Calibri" pitchFamily="34" charset="0"/>
                <a:ea typeface="Calibri" pitchFamily="34" charset="-122"/>
                <a:cs typeface="Calibri" pitchFamily="34" charset="-120"/>
              </a:rPr>
              <a:t>Six browser-only skills everyone needs first — no code required.</a:t>
            </a:r>
            <a:endParaRPr lang="en-US" sz="1150" dirty="0"/>
          </a:p>
        </p:txBody>
      </p:sp>
      <p:sp>
        <p:nvSpPr>
          <p:cNvPr id="9" name="Shape 7"/>
          <p:cNvSpPr/>
          <p:nvPr/>
        </p:nvSpPr>
        <p:spPr>
          <a:xfrm>
            <a:off x="3159252" y="3950208"/>
            <a:ext cx="155448" cy="237744"/>
          </a:xfrm>
          <a:prstGeom prst="chevron">
            <a:avLst/>
          </a:prstGeom>
          <a:solidFill>
            <a:srgbClr val="6B7089"/>
          </a:solidFill>
          <a:ln/>
        </p:spPr>
      </p:sp>
      <p:sp>
        <p:nvSpPr>
          <p:cNvPr id="10" name="Shape 8"/>
          <p:cNvSpPr/>
          <p:nvPr/>
        </p:nvSpPr>
        <p:spPr>
          <a:xfrm>
            <a:off x="3319272" y="2377440"/>
            <a:ext cx="2606040" cy="3383280"/>
          </a:xfrm>
          <a:prstGeom prst="roundRect">
            <a:avLst>
              <a:gd name="adj" fmla="val 3509"/>
            </a:avLst>
          </a:prstGeom>
          <a:solidFill>
            <a:srgbClr val="1B1F3B"/>
          </a:solidFill>
          <a:ln/>
        </p:spPr>
      </p:sp>
      <p:sp>
        <p:nvSpPr>
          <p:cNvPr id="11" name="Shape 9"/>
          <p:cNvSpPr/>
          <p:nvPr/>
        </p:nvSpPr>
        <p:spPr>
          <a:xfrm>
            <a:off x="3547872" y="2651760"/>
            <a:ext cx="457200" cy="457200"/>
          </a:xfrm>
          <a:prstGeom prst="ellipse">
            <a:avLst/>
          </a:prstGeom>
          <a:solidFill>
            <a:srgbClr val="00D9C0"/>
          </a:solidFill>
          <a:ln/>
        </p:spPr>
      </p:sp>
      <p:sp>
        <p:nvSpPr>
          <p:cNvPr id="12" name="Text 10"/>
          <p:cNvSpPr txBox="1"/>
          <p:nvPr/>
        </p:nvSpPr>
        <p:spPr>
          <a:xfrm>
            <a:off x="3547872" y="2651760"/>
            <a:ext cx="457200" cy="457200"/>
          </a:xfrm>
          <a:prstGeom prst="rect">
            <a:avLst/>
          </a:prstGeom>
          <a:noFill/>
          <a:ln/>
        </p:spPr>
        <p:txBody>
          <a:bodyPr wrap="square" lIns="0" tIns="0" rIns="0" bIns="0" rtlCol="0" anchor="ctr"/>
          <a:lstStyle/>
          <a:p>
            <a:pPr algn="ctr" indent="0" marL="0">
              <a:buNone/>
            </a:pPr>
            <a:r>
              <a:rPr lang="en-US" sz="1600" b="1" dirty="0">
                <a:solidFill>
                  <a:srgbClr val="12152B"/>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3547872" y="3246120"/>
            <a:ext cx="2148840" cy="7772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General Agents</a:t>
            </a:r>
            <a:endParaRPr lang="en-US" sz="1500" dirty="0"/>
          </a:p>
        </p:txBody>
      </p:sp>
      <p:sp>
        <p:nvSpPr>
          <p:cNvPr id="14" name="Text 12"/>
          <p:cNvSpPr txBox="1"/>
          <p:nvPr/>
        </p:nvSpPr>
        <p:spPr>
          <a:xfrm>
            <a:off x="3547872" y="4069080"/>
            <a:ext cx="2148840" cy="1554480"/>
          </a:xfrm>
          <a:prstGeom prst="rect">
            <a:avLst/>
          </a:prstGeom>
          <a:noFill/>
          <a:ln/>
        </p:spPr>
        <p:txBody>
          <a:bodyPr wrap="square" lIns="0" tIns="0" rIns="0" bIns="0" rtlCol="0" anchor="ctr"/>
          <a:lstStyle/>
          <a:p>
            <a:pPr indent="0" marL="0">
              <a:lnSpc>
                <a:spcPct val="125000"/>
              </a:lnSpc>
              <a:buNone/>
            </a:pPr>
            <a:r>
              <a:rPr lang="en-US" sz="1150" dirty="0">
                <a:solidFill>
                  <a:srgbClr val="E8EDF7"/>
                </a:solidFill>
                <a:latin typeface="Calibri" pitchFamily="34" charset="0"/>
                <a:ea typeface="Calibri" pitchFamily="34" charset="-122"/>
                <a:cs typeface="Calibri" pitchFamily="34" charset="-120"/>
              </a:rPr>
              <a:t>Pick a co-worker — Claude Code, OpenCode, Cowork, or OpenWork — and learn to direct it.</a:t>
            </a:r>
            <a:endParaRPr lang="en-US" sz="1150" dirty="0"/>
          </a:p>
        </p:txBody>
      </p:sp>
      <p:sp>
        <p:nvSpPr>
          <p:cNvPr id="15" name="Shape 13"/>
          <p:cNvSpPr/>
          <p:nvPr/>
        </p:nvSpPr>
        <p:spPr>
          <a:xfrm>
            <a:off x="5929884" y="3950208"/>
            <a:ext cx="155448" cy="237744"/>
          </a:xfrm>
          <a:prstGeom prst="chevron">
            <a:avLst/>
          </a:prstGeom>
          <a:solidFill>
            <a:srgbClr val="6B7089"/>
          </a:solidFill>
          <a:ln/>
        </p:spPr>
      </p:sp>
      <p:sp>
        <p:nvSpPr>
          <p:cNvPr id="16" name="Shape 14"/>
          <p:cNvSpPr/>
          <p:nvPr/>
        </p:nvSpPr>
        <p:spPr>
          <a:xfrm>
            <a:off x="6089904" y="2377440"/>
            <a:ext cx="2606040" cy="3383280"/>
          </a:xfrm>
          <a:prstGeom prst="roundRect">
            <a:avLst>
              <a:gd name="adj" fmla="val 3509"/>
            </a:avLst>
          </a:prstGeom>
          <a:solidFill>
            <a:srgbClr val="E8EDF7"/>
          </a:solidFill>
          <a:ln/>
        </p:spPr>
      </p:sp>
      <p:sp>
        <p:nvSpPr>
          <p:cNvPr id="17" name="Shape 15"/>
          <p:cNvSpPr/>
          <p:nvPr/>
        </p:nvSpPr>
        <p:spPr>
          <a:xfrm>
            <a:off x="6318504" y="2651760"/>
            <a:ext cx="457200" cy="457200"/>
          </a:xfrm>
          <a:prstGeom prst="ellipse">
            <a:avLst/>
          </a:prstGeom>
          <a:solidFill>
            <a:srgbClr val="1B1F3B"/>
          </a:solidFill>
          <a:ln/>
        </p:spPr>
      </p:sp>
      <p:sp>
        <p:nvSpPr>
          <p:cNvPr id="18" name="Text 16"/>
          <p:cNvSpPr txBox="1"/>
          <p:nvPr/>
        </p:nvSpPr>
        <p:spPr>
          <a:xfrm>
            <a:off x="6318504"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6318504" y="3246120"/>
            <a:ext cx="2148840" cy="777240"/>
          </a:xfrm>
          <a:prstGeom prst="rect">
            <a:avLst/>
          </a:prstGeom>
          <a:noFill/>
          <a:ln/>
        </p:spPr>
        <p:txBody>
          <a:bodyPr wrap="square" lIns="0" tIns="0" rIns="0" bIns="0" rtlCol="0" anchor="ctr"/>
          <a:lstStyle/>
          <a:p>
            <a:pPr indent="0" marL="0">
              <a:lnSpc>
                <a:spcPct val="110000"/>
              </a:lnSpc>
              <a:buNone/>
            </a:pPr>
            <a:r>
              <a:rPr lang="en-US" sz="1500" b="1" dirty="0">
                <a:solidFill>
                  <a:srgbClr val="1B1F3B"/>
                </a:solidFill>
                <a:latin typeface="Cambria" pitchFamily="34" charset="0"/>
                <a:ea typeface="Cambria" pitchFamily="34" charset="-122"/>
                <a:cs typeface="Cambria" pitchFamily="34" charset="-120"/>
              </a:rPr>
              <a:t>Mode 1: Problem-Solving</a:t>
            </a:r>
            <a:endParaRPr lang="en-US" sz="1500" dirty="0"/>
          </a:p>
        </p:txBody>
      </p:sp>
      <p:sp>
        <p:nvSpPr>
          <p:cNvPr id="20" name="Text 18"/>
          <p:cNvSpPr txBox="1"/>
          <p:nvPr/>
        </p:nvSpPr>
        <p:spPr>
          <a:xfrm>
            <a:off x="6318504" y="4069080"/>
            <a:ext cx="2148840" cy="1554480"/>
          </a:xfrm>
          <a:prstGeom prst="rect">
            <a:avLst/>
          </a:prstGeom>
          <a:noFill/>
          <a:ln/>
        </p:spPr>
        <p:txBody>
          <a:bodyPr wrap="square" lIns="0" tIns="0" rIns="0" bIns="0" rtlCol="0" anchor="ctr"/>
          <a:lstStyle/>
          <a:p>
            <a:pPr indent="0" marL="0">
              <a:lnSpc>
                <a:spcPct val="125000"/>
              </a:lnSpc>
              <a:buNone/>
            </a:pPr>
            <a:r>
              <a:rPr lang="en-US" sz="1150" dirty="0">
                <a:solidFill>
                  <a:srgbClr val="6B7089"/>
                </a:solidFill>
                <a:latin typeface="Calibri" pitchFamily="34" charset="0"/>
                <a:ea typeface="Calibri" pitchFamily="34" charset="-122"/>
                <a:cs typeface="Calibri" pitchFamily="34" charset="-120"/>
              </a:rPr>
              <a:t>Use a general agent to solve one real problem well.</a:t>
            </a:r>
            <a:endParaRPr lang="en-US" sz="1150" dirty="0"/>
          </a:p>
        </p:txBody>
      </p:sp>
      <p:sp>
        <p:nvSpPr>
          <p:cNvPr id="21" name="Shape 19"/>
          <p:cNvSpPr/>
          <p:nvPr/>
        </p:nvSpPr>
        <p:spPr>
          <a:xfrm>
            <a:off x="8700516" y="3950208"/>
            <a:ext cx="155448" cy="237744"/>
          </a:xfrm>
          <a:prstGeom prst="chevron">
            <a:avLst/>
          </a:prstGeom>
          <a:solidFill>
            <a:srgbClr val="6B7089"/>
          </a:solidFill>
          <a:ln/>
        </p:spPr>
      </p:sp>
      <p:sp>
        <p:nvSpPr>
          <p:cNvPr id="22" name="Shape 20"/>
          <p:cNvSpPr/>
          <p:nvPr/>
        </p:nvSpPr>
        <p:spPr>
          <a:xfrm>
            <a:off x="8860536" y="2377440"/>
            <a:ext cx="2606040" cy="3383280"/>
          </a:xfrm>
          <a:prstGeom prst="roundRect">
            <a:avLst>
              <a:gd name="adj" fmla="val 3509"/>
            </a:avLst>
          </a:prstGeom>
          <a:solidFill>
            <a:srgbClr val="1B1F3B"/>
          </a:solidFill>
          <a:ln/>
        </p:spPr>
      </p:sp>
      <p:sp>
        <p:nvSpPr>
          <p:cNvPr id="23" name="Shape 21"/>
          <p:cNvSpPr/>
          <p:nvPr/>
        </p:nvSpPr>
        <p:spPr>
          <a:xfrm>
            <a:off x="9089136" y="2651760"/>
            <a:ext cx="457200" cy="457200"/>
          </a:xfrm>
          <a:prstGeom prst="ellipse">
            <a:avLst/>
          </a:prstGeom>
          <a:solidFill>
            <a:srgbClr val="00D9C0"/>
          </a:solidFill>
          <a:ln/>
        </p:spPr>
      </p:sp>
      <p:sp>
        <p:nvSpPr>
          <p:cNvPr id="24" name="Text 22"/>
          <p:cNvSpPr txBox="1"/>
          <p:nvPr/>
        </p:nvSpPr>
        <p:spPr>
          <a:xfrm>
            <a:off x="9089136" y="2651760"/>
            <a:ext cx="457200" cy="457200"/>
          </a:xfrm>
          <a:prstGeom prst="rect">
            <a:avLst/>
          </a:prstGeom>
          <a:noFill/>
          <a:ln/>
        </p:spPr>
        <p:txBody>
          <a:bodyPr wrap="square" lIns="0" tIns="0" rIns="0" bIns="0" rtlCol="0" anchor="ctr"/>
          <a:lstStyle/>
          <a:p>
            <a:pPr algn="ctr" indent="0" marL="0">
              <a:buNone/>
            </a:pPr>
            <a:r>
              <a:rPr lang="en-US" sz="1600" b="1" dirty="0">
                <a:solidFill>
                  <a:srgbClr val="12152B"/>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9089136" y="3246120"/>
            <a:ext cx="2148840" cy="7772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Mode 2: Manufacturing</a:t>
            </a:r>
            <a:endParaRPr lang="en-US" sz="1500" dirty="0"/>
          </a:p>
        </p:txBody>
      </p:sp>
      <p:sp>
        <p:nvSpPr>
          <p:cNvPr id="26" name="Text 24"/>
          <p:cNvSpPr txBox="1"/>
          <p:nvPr/>
        </p:nvSpPr>
        <p:spPr>
          <a:xfrm>
            <a:off x="9089136" y="4069080"/>
            <a:ext cx="2148840" cy="1554480"/>
          </a:xfrm>
          <a:prstGeom prst="rect">
            <a:avLst/>
          </a:prstGeom>
          <a:noFill/>
          <a:ln/>
        </p:spPr>
        <p:txBody>
          <a:bodyPr wrap="square" lIns="0" tIns="0" rIns="0" bIns="0" rtlCol="0" anchor="ctr"/>
          <a:lstStyle/>
          <a:p>
            <a:pPr indent="0" marL="0">
              <a:lnSpc>
                <a:spcPct val="125000"/>
              </a:lnSpc>
              <a:buNone/>
            </a:pPr>
            <a:r>
              <a:rPr lang="en-US" sz="1150" dirty="0">
                <a:solidFill>
                  <a:srgbClr val="E8EDF7"/>
                </a:solidFill>
                <a:latin typeface="Calibri" pitchFamily="34" charset="0"/>
                <a:ea typeface="Calibri" pitchFamily="34" charset="-122"/>
                <a:cs typeface="Calibri" pitchFamily="34" charset="-120"/>
              </a:rPr>
              <a:t>Build a Worker once so it keeps working without you — then scale it into a workforce.</a:t>
            </a:r>
            <a:endParaRPr lang="en-US" sz="1150" dirty="0"/>
          </a:p>
        </p:txBody>
      </p:sp>
      <p:sp>
        <p:nvSpPr>
          <p:cNvPr id="27" name="Text 2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9AA0BE"/>
                </a:solidFill>
                <a:latin typeface="Calibri" pitchFamily="34" charset="0"/>
                <a:ea typeface="Calibri" pitchFamily="34" charset="-122"/>
                <a:cs typeface="Calibri" pitchFamily="34" charset="-120"/>
              </a:rPr>
              <a:t>agentfactory.panaversity.org</a:t>
            </a:r>
            <a:endParaRPr lang="en-US" sz="1000" dirty="0"/>
          </a:p>
        </p:txBody>
      </p:sp>
      <p:sp>
        <p:nvSpPr>
          <p:cNvPr id="28" name="Text 26"/>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9AA0B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49C8C"/>
                </a:solidFill>
                <a:latin typeface="Calibri" pitchFamily="34" charset="0"/>
                <a:ea typeface="Calibri" pitchFamily="34" charset="-122"/>
                <a:cs typeface="Calibri" pitchFamily="34" charset="-120"/>
              </a:rPr>
              <a:t>AUDIENCE</a:t>
            </a:r>
            <a:endParaRPr lang="en-US" sz="1300" dirty="0"/>
          </a:p>
        </p:txBody>
      </p:sp>
      <p:sp>
        <p:nvSpPr>
          <p:cNvPr id="3" name="Text 1"/>
          <p:cNvSpPr txBox="1"/>
          <p:nvPr/>
        </p:nvSpPr>
        <p:spPr>
          <a:xfrm>
            <a:off x="548640" y="777240"/>
            <a:ext cx="8229600" cy="73152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Built for three kinds of reader</a:t>
            </a:r>
            <a:endParaRPr lang="en-US" sz="3000" dirty="0"/>
          </a:p>
        </p:txBody>
      </p:sp>
      <p:sp>
        <p:nvSpPr>
          <p:cNvPr id="4" name="Shape 2"/>
          <p:cNvSpPr/>
          <p:nvPr/>
        </p:nvSpPr>
        <p:spPr>
          <a:xfrm>
            <a:off x="548640" y="1828800"/>
            <a:ext cx="3611880" cy="4114800"/>
          </a:xfrm>
          <a:prstGeom prst="roundRect">
            <a:avLst>
              <a:gd name="adj" fmla="val 2532"/>
            </a:avLst>
          </a:prstGeom>
          <a:solidFill>
            <a:srgbClr val="E8EDF7"/>
          </a:solidFill>
          <a:ln/>
        </p:spPr>
      </p:sp>
      <p:sp>
        <p:nvSpPr>
          <p:cNvPr id="5" name="Shape 3"/>
          <p:cNvSpPr/>
          <p:nvPr/>
        </p:nvSpPr>
        <p:spPr>
          <a:xfrm>
            <a:off x="2011680" y="2194560"/>
            <a:ext cx="685800" cy="685800"/>
          </a:xfrm>
          <a:prstGeom prst="ellipse">
            <a:avLst/>
          </a:prstGeom>
          <a:solidFill>
            <a:srgbClr val="1B1F3B"/>
          </a:solidFill>
          <a:ln/>
        </p:spPr>
      </p:sp>
      <p:sp>
        <p:nvSpPr>
          <p:cNvPr id="6" name="Text 4"/>
          <p:cNvSpPr txBox="1"/>
          <p:nvPr/>
        </p:nvSpPr>
        <p:spPr>
          <a:xfrm>
            <a:off x="2011680" y="219456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SME</a:t>
            </a:r>
            <a:endParaRPr lang="en-US" sz="1300" dirty="0"/>
          </a:p>
        </p:txBody>
      </p:sp>
      <p:sp>
        <p:nvSpPr>
          <p:cNvPr id="7" name="Text 5"/>
          <p:cNvSpPr txBox="1"/>
          <p:nvPr/>
        </p:nvSpPr>
        <p:spPr>
          <a:xfrm>
            <a:off x="777240" y="3063240"/>
            <a:ext cx="3154680" cy="822960"/>
          </a:xfrm>
          <a:prstGeom prst="rect">
            <a:avLst/>
          </a:prstGeom>
          <a:noFill/>
          <a:ln/>
        </p:spPr>
        <p:txBody>
          <a:bodyPr wrap="square" lIns="0" tIns="0" rIns="0" bIns="0" rtlCol="0" anchor="ctr"/>
          <a:lstStyle/>
          <a:p>
            <a:pPr algn="ctr" indent="0" marL="0">
              <a:lnSpc>
                <a:spcPct val="105000"/>
              </a:lnSpc>
              <a:buNone/>
            </a:pPr>
            <a:r>
              <a:rPr lang="en-US" sz="1800" b="1" dirty="0">
                <a:solidFill>
                  <a:srgbClr val="1B1F3B"/>
                </a:solidFill>
                <a:latin typeface="Cambria" pitchFamily="34" charset="0"/>
                <a:ea typeface="Cambria" pitchFamily="34" charset="-122"/>
                <a:cs typeface="Cambria" pitchFamily="34" charset="-120"/>
              </a:rPr>
              <a:t>Subject Matter</a:t>
            </a:r>
            <a:endParaRPr lang="en-US" sz="1800" dirty="0"/>
          </a:p>
          <a:p>
            <a:pPr algn="ctr" indent="0" marL="0">
              <a:lnSpc>
                <a:spcPct val="105000"/>
              </a:lnSpc>
              <a:buNone/>
            </a:pPr>
            <a:r>
              <a:rPr lang="en-US" sz="1800" b="1" dirty="0">
                <a:solidFill>
                  <a:srgbClr val="1B1F3B"/>
                </a:solidFill>
                <a:latin typeface="Cambria" pitchFamily="34" charset="0"/>
                <a:ea typeface="Cambria" pitchFamily="34" charset="-122"/>
                <a:cs typeface="Cambria" pitchFamily="34" charset="-120"/>
              </a:rPr>
              <a:t>Experts</a:t>
            </a:r>
            <a:endParaRPr lang="en-US" sz="1800" dirty="0"/>
          </a:p>
        </p:txBody>
      </p:sp>
      <p:sp>
        <p:nvSpPr>
          <p:cNvPr id="8" name="Text 6"/>
          <p:cNvSpPr txBox="1"/>
          <p:nvPr/>
        </p:nvSpPr>
        <p:spPr>
          <a:xfrm>
            <a:off x="868680" y="3977640"/>
            <a:ext cx="2971800" cy="1737360"/>
          </a:xfrm>
          <a:prstGeom prst="rect">
            <a:avLst/>
          </a:prstGeom>
          <a:noFill/>
          <a:ln/>
        </p:spPr>
        <p:txBody>
          <a:bodyPr wrap="square" lIns="0" tIns="0" rIns="0" bIns="0" rtlCol="0" anchor="ctr"/>
          <a:lstStyle/>
          <a:p>
            <a:pPr algn="ctr" indent="0" marL="0">
              <a:lnSpc>
                <a:spcPct val="130000"/>
              </a:lnSpc>
              <a:buNone/>
            </a:pPr>
            <a:r>
              <a:rPr lang="en-US" sz="1250" dirty="0">
                <a:solidFill>
                  <a:srgbClr val="6B7089"/>
                </a:solidFill>
                <a:latin typeface="Calibri" pitchFamily="34" charset="0"/>
                <a:ea typeface="Calibri" pitchFamily="34" charset="-122"/>
                <a:cs typeface="Calibri" pitchFamily="34" charset="-120"/>
              </a:rPr>
              <a:t>CFOs, lawyers, compliance officers, HR directors — translate professional judgment into reusable AI skills.</a:t>
            </a:r>
            <a:endParaRPr lang="en-US" sz="1250" dirty="0"/>
          </a:p>
        </p:txBody>
      </p:sp>
      <p:sp>
        <p:nvSpPr>
          <p:cNvPr id="9" name="Shape 7"/>
          <p:cNvSpPr/>
          <p:nvPr/>
        </p:nvSpPr>
        <p:spPr>
          <a:xfrm>
            <a:off x="4389120" y="1828800"/>
            <a:ext cx="3611880" cy="4114800"/>
          </a:xfrm>
          <a:prstGeom prst="roundRect">
            <a:avLst>
              <a:gd name="adj" fmla="val 2532"/>
            </a:avLst>
          </a:prstGeom>
          <a:solidFill>
            <a:srgbClr val="E8EDF7"/>
          </a:solidFill>
          <a:ln/>
        </p:spPr>
      </p:sp>
      <p:sp>
        <p:nvSpPr>
          <p:cNvPr id="10" name="Shape 8"/>
          <p:cNvSpPr/>
          <p:nvPr/>
        </p:nvSpPr>
        <p:spPr>
          <a:xfrm>
            <a:off x="5852160" y="2194560"/>
            <a:ext cx="685800" cy="685800"/>
          </a:xfrm>
          <a:prstGeom prst="ellipse">
            <a:avLst/>
          </a:prstGeom>
          <a:solidFill>
            <a:srgbClr val="1B1F3B"/>
          </a:solidFill>
          <a:ln/>
        </p:spPr>
      </p:sp>
      <p:sp>
        <p:nvSpPr>
          <p:cNvPr id="11" name="Text 9"/>
          <p:cNvSpPr txBox="1"/>
          <p:nvPr/>
        </p:nvSpPr>
        <p:spPr>
          <a:xfrm>
            <a:off x="5852160" y="219456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ENG</a:t>
            </a:r>
            <a:endParaRPr lang="en-US" sz="1300" dirty="0"/>
          </a:p>
        </p:txBody>
      </p:sp>
      <p:sp>
        <p:nvSpPr>
          <p:cNvPr id="12" name="Text 10"/>
          <p:cNvSpPr txBox="1"/>
          <p:nvPr/>
        </p:nvSpPr>
        <p:spPr>
          <a:xfrm>
            <a:off x="4617720" y="3063240"/>
            <a:ext cx="3154680" cy="822960"/>
          </a:xfrm>
          <a:prstGeom prst="rect">
            <a:avLst/>
          </a:prstGeom>
          <a:noFill/>
          <a:ln/>
        </p:spPr>
        <p:txBody>
          <a:bodyPr wrap="square" lIns="0" tIns="0" rIns="0" bIns="0" rtlCol="0" anchor="ctr"/>
          <a:lstStyle/>
          <a:p>
            <a:pPr algn="ctr" indent="0" marL="0">
              <a:lnSpc>
                <a:spcPct val="105000"/>
              </a:lnSpc>
              <a:buNone/>
            </a:pPr>
            <a:r>
              <a:rPr lang="en-US" sz="1800" b="1" dirty="0">
                <a:solidFill>
                  <a:srgbClr val="1B1F3B"/>
                </a:solidFill>
                <a:latin typeface="Cambria" pitchFamily="34" charset="0"/>
                <a:ea typeface="Cambria" pitchFamily="34" charset="-122"/>
                <a:cs typeface="Cambria" pitchFamily="34" charset="-120"/>
              </a:rPr>
              <a:t>Engineers &amp;</a:t>
            </a:r>
            <a:endParaRPr lang="en-US" sz="1800" dirty="0"/>
          </a:p>
          <a:p>
            <a:pPr algn="ctr" indent="0" marL="0">
              <a:lnSpc>
                <a:spcPct val="105000"/>
              </a:lnSpc>
              <a:buNone/>
            </a:pPr>
            <a:r>
              <a:rPr lang="en-US" sz="1800" b="1" dirty="0">
                <a:solidFill>
                  <a:srgbClr val="1B1F3B"/>
                </a:solidFill>
                <a:latin typeface="Cambria" pitchFamily="34" charset="0"/>
                <a:ea typeface="Cambria" pitchFamily="34" charset="-122"/>
                <a:cs typeface="Cambria" pitchFamily="34" charset="-120"/>
              </a:rPr>
              <a:t>Platform Builders</a:t>
            </a:r>
            <a:endParaRPr lang="en-US" sz="1800" dirty="0"/>
          </a:p>
        </p:txBody>
      </p:sp>
      <p:sp>
        <p:nvSpPr>
          <p:cNvPr id="13" name="Text 11"/>
          <p:cNvSpPr txBox="1"/>
          <p:nvPr/>
        </p:nvSpPr>
        <p:spPr>
          <a:xfrm>
            <a:off x="4709160" y="3977640"/>
            <a:ext cx="2971800" cy="1737360"/>
          </a:xfrm>
          <a:prstGeom prst="rect">
            <a:avLst/>
          </a:prstGeom>
          <a:noFill/>
          <a:ln/>
        </p:spPr>
        <p:txBody>
          <a:bodyPr wrap="square" lIns="0" tIns="0" rIns="0" bIns="0" rtlCol="0" anchor="ctr"/>
          <a:lstStyle/>
          <a:p>
            <a:pPr algn="ctr" indent="0" marL="0">
              <a:lnSpc>
                <a:spcPct val="130000"/>
              </a:lnSpc>
              <a:buNone/>
            </a:pPr>
            <a:r>
              <a:rPr lang="en-US" sz="1250" dirty="0">
                <a:solidFill>
                  <a:srgbClr val="6B7089"/>
                </a:solidFill>
                <a:latin typeface="Calibri" pitchFamily="34" charset="0"/>
                <a:ea typeface="Calibri" pitchFamily="34" charset="-122"/>
                <a:cs typeface="Calibri" pitchFamily="34" charset="-120"/>
              </a:rPr>
              <a:t>Build, operate, and scale AI employees with the same discipline as any other technical system.</a:t>
            </a:r>
            <a:endParaRPr lang="en-US" sz="1250" dirty="0"/>
          </a:p>
        </p:txBody>
      </p:sp>
      <p:sp>
        <p:nvSpPr>
          <p:cNvPr id="14" name="Shape 12"/>
          <p:cNvSpPr/>
          <p:nvPr/>
        </p:nvSpPr>
        <p:spPr>
          <a:xfrm>
            <a:off x="8229600" y="1828800"/>
            <a:ext cx="3611880" cy="4114800"/>
          </a:xfrm>
          <a:prstGeom prst="roundRect">
            <a:avLst>
              <a:gd name="adj" fmla="val 2532"/>
            </a:avLst>
          </a:prstGeom>
          <a:solidFill>
            <a:srgbClr val="E8EDF7"/>
          </a:solidFill>
          <a:ln/>
        </p:spPr>
      </p:sp>
      <p:sp>
        <p:nvSpPr>
          <p:cNvPr id="15" name="Shape 13"/>
          <p:cNvSpPr/>
          <p:nvPr/>
        </p:nvSpPr>
        <p:spPr>
          <a:xfrm>
            <a:off x="9692640" y="2194560"/>
            <a:ext cx="685800" cy="685800"/>
          </a:xfrm>
          <a:prstGeom prst="ellipse">
            <a:avLst/>
          </a:prstGeom>
          <a:solidFill>
            <a:srgbClr val="1B1F3B"/>
          </a:solidFill>
          <a:ln/>
        </p:spPr>
      </p:sp>
      <p:sp>
        <p:nvSpPr>
          <p:cNvPr id="16" name="Text 14"/>
          <p:cNvSpPr txBox="1"/>
          <p:nvPr/>
        </p:nvSpPr>
        <p:spPr>
          <a:xfrm>
            <a:off x="9692640" y="219456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EXEC</a:t>
            </a:r>
            <a:endParaRPr lang="en-US" sz="1300" dirty="0"/>
          </a:p>
        </p:txBody>
      </p:sp>
      <p:sp>
        <p:nvSpPr>
          <p:cNvPr id="17" name="Text 15"/>
          <p:cNvSpPr txBox="1"/>
          <p:nvPr/>
        </p:nvSpPr>
        <p:spPr>
          <a:xfrm>
            <a:off x="8458200" y="3063240"/>
            <a:ext cx="3154680" cy="822960"/>
          </a:xfrm>
          <a:prstGeom prst="rect">
            <a:avLst/>
          </a:prstGeom>
          <a:noFill/>
          <a:ln/>
        </p:spPr>
        <p:txBody>
          <a:bodyPr wrap="square" lIns="0" tIns="0" rIns="0" bIns="0" rtlCol="0" anchor="ctr"/>
          <a:lstStyle/>
          <a:p>
            <a:pPr algn="ctr" indent="0" marL="0">
              <a:lnSpc>
                <a:spcPct val="105000"/>
              </a:lnSpc>
              <a:buNone/>
            </a:pPr>
            <a:r>
              <a:rPr lang="en-US" sz="1800" b="1" dirty="0">
                <a:solidFill>
                  <a:srgbClr val="1B1F3B"/>
                </a:solidFill>
                <a:latin typeface="Cambria" pitchFamily="34" charset="0"/>
                <a:ea typeface="Cambria" pitchFamily="34" charset="-122"/>
                <a:cs typeface="Cambria" pitchFamily="34" charset="-120"/>
              </a:rPr>
              <a:t>Enterprise</a:t>
            </a:r>
            <a:endParaRPr lang="en-US" sz="1800" dirty="0"/>
          </a:p>
          <a:p>
            <a:pPr algn="ctr" indent="0" marL="0">
              <a:lnSpc>
                <a:spcPct val="105000"/>
              </a:lnSpc>
              <a:buNone/>
            </a:pPr>
            <a:r>
              <a:rPr lang="en-US" sz="1800" b="1" dirty="0">
                <a:solidFill>
                  <a:srgbClr val="1B1F3B"/>
                </a:solidFill>
                <a:latin typeface="Cambria" pitchFamily="34" charset="0"/>
                <a:ea typeface="Cambria" pitchFamily="34" charset="-122"/>
                <a:cs typeface="Cambria" pitchFamily="34" charset="-120"/>
              </a:rPr>
              <a:t>Leaders</a:t>
            </a:r>
            <a:endParaRPr lang="en-US" sz="1800" dirty="0"/>
          </a:p>
        </p:txBody>
      </p:sp>
      <p:sp>
        <p:nvSpPr>
          <p:cNvPr id="18" name="Text 16"/>
          <p:cNvSpPr txBox="1"/>
          <p:nvPr/>
        </p:nvSpPr>
        <p:spPr>
          <a:xfrm>
            <a:off x="8549640" y="3977640"/>
            <a:ext cx="2971800" cy="1737360"/>
          </a:xfrm>
          <a:prstGeom prst="rect">
            <a:avLst/>
          </a:prstGeom>
          <a:noFill/>
          <a:ln/>
        </p:spPr>
        <p:txBody>
          <a:bodyPr wrap="square" lIns="0" tIns="0" rIns="0" bIns="0" rtlCol="0" anchor="ctr"/>
          <a:lstStyle/>
          <a:p>
            <a:pPr algn="ctr" indent="0" marL="0">
              <a:lnSpc>
                <a:spcPct val="130000"/>
              </a:lnSpc>
              <a:buNone/>
            </a:pPr>
            <a:r>
              <a:rPr lang="en-US" sz="1250" dirty="0">
                <a:solidFill>
                  <a:srgbClr val="6B7089"/>
                </a:solidFill>
                <a:latin typeface="Calibri" pitchFamily="34" charset="0"/>
                <a:ea typeface="Calibri" pitchFamily="34" charset="-122"/>
                <a:cs typeface="Calibri" pitchFamily="34" charset="-120"/>
              </a:rPr>
              <a:t>Understand the maturity model, the build-vs-buy framework, and how to deploy this in a real organization.</a:t>
            </a:r>
            <a:endParaRPr lang="en-US" sz="1250" dirty="0"/>
          </a:p>
        </p:txBody>
      </p:sp>
      <p:sp>
        <p:nvSpPr>
          <p:cNvPr id="19" name="Text 1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9AA0BE"/>
                </a:solidFill>
                <a:latin typeface="Calibri" pitchFamily="34" charset="0"/>
                <a:ea typeface="Calibri" pitchFamily="34" charset="-122"/>
                <a:cs typeface="Calibri" pitchFamily="34" charset="-120"/>
              </a:rPr>
              <a:t>agentfactory.panaversity.org</a:t>
            </a:r>
            <a:endParaRPr lang="en-US" sz="1000" dirty="0"/>
          </a:p>
        </p:txBody>
      </p:sp>
      <p:sp>
        <p:nvSpPr>
          <p:cNvPr id="20" name="Text 18"/>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9AA0B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0D9C0"/>
                </a:solidFill>
                <a:latin typeface="Calibri" pitchFamily="34" charset="0"/>
                <a:ea typeface="Calibri" pitchFamily="34" charset="-122"/>
                <a:cs typeface="Calibri" pitchFamily="34" charset="-120"/>
              </a:rPr>
              <a:t>BEYOND THE BOOK</a:t>
            </a:r>
            <a:endParaRPr lang="en-US" sz="1300" dirty="0"/>
          </a:p>
        </p:txBody>
      </p:sp>
      <p:sp>
        <p:nvSpPr>
          <p:cNvPr id="3" name="Text 1"/>
          <p:cNvSpPr txBox="1"/>
          <p:nvPr/>
        </p:nvSpPr>
        <p:spPr>
          <a:xfrm>
            <a:off x="548640" y="777240"/>
            <a:ext cx="7772400" cy="128016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One system of record,</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three ways to use it</a:t>
            </a:r>
            <a:endParaRPr lang="en-US" sz="3000" dirty="0"/>
          </a:p>
        </p:txBody>
      </p:sp>
      <p:sp>
        <p:nvSpPr>
          <p:cNvPr id="4" name="Shape 2"/>
          <p:cNvSpPr/>
          <p:nvPr/>
        </p:nvSpPr>
        <p:spPr>
          <a:xfrm>
            <a:off x="548640" y="2331720"/>
            <a:ext cx="502920" cy="502920"/>
          </a:xfrm>
          <a:prstGeom prst="ellipse">
            <a:avLst/>
          </a:prstGeom>
          <a:solidFill>
            <a:srgbClr val="00D9C0"/>
          </a:solidFill>
          <a:ln/>
        </p:spPr>
      </p:sp>
      <p:sp>
        <p:nvSpPr>
          <p:cNvPr id="5" name="Text 3"/>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800" b="1" dirty="0">
                <a:solidFill>
                  <a:srgbClr val="12152B"/>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34440" y="2258568"/>
            <a:ext cx="29260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Read it</a:t>
            </a:r>
            <a:endParaRPr lang="en-US" sz="1800" dirty="0"/>
          </a:p>
        </p:txBody>
      </p:sp>
      <p:sp>
        <p:nvSpPr>
          <p:cNvPr id="7" name="Text 5"/>
          <p:cNvSpPr txBox="1"/>
          <p:nvPr/>
        </p:nvSpPr>
        <p:spPr>
          <a:xfrm>
            <a:off x="4343400" y="2258568"/>
            <a:ext cx="7223760" cy="822960"/>
          </a:xfrm>
          <a:prstGeom prst="rect">
            <a:avLst/>
          </a:prstGeom>
          <a:noFill/>
          <a:ln/>
        </p:spPr>
        <p:txBody>
          <a:bodyPr wrap="square" lIns="0" tIns="0" rIns="0" bIns="0" rtlCol="0" anchor="ctr"/>
          <a:lstStyle/>
          <a:p>
            <a:pPr indent="0" marL="0">
              <a:lnSpc>
                <a:spcPct val="125000"/>
              </a:lnSpc>
              <a:buNone/>
            </a:pPr>
            <a:r>
              <a:rPr lang="en-US" sz="1350" dirty="0">
                <a:solidFill>
                  <a:srgbClr val="E8EDF7"/>
                </a:solidFill>
                <a:latin typeface="Calibri" pitchFamily="34" charset="0"/>
                <a:ea typeface="Calibri" pitchFamily="34" charset="-122"/>
                <a:cs typeface="Calibri" pitchFamily="34" charset="-120"/>
              </a:rPr>
              <a:t>The AI Agent Factory book — the full curriculum, free online, continuously updated.</a:t>
            </a:r>
            <a:endParaRPr lang="en-US" sz="1350" dirty="0"/>
          </a:p>
        </p:txBody>
      </p:sp>
      <p:sp>
        <p:nvSpPr>
          <p:cNvPr id="8" name="Shape 6"/>
          <p:cNvSpPr/>
          <p:nvPr/>
        </p:nvSpPr>
        <p:spPr>
          <a:xfrm>
            <a:off x="548640" y="3566160"/>
            <a:ext cx="502920" cy="502920"/>
          </a:xfrm>
          <a:prstGeom prst="ellipse">
            <a:avLst/>
          </a:prstGeom>
          <a:solidFill>
            <a:srgbClr val="00D9C0"/>
          </a:solidFill>
          <a:ln/>
        </p:spPr>
      </p:sp>
      <p:sp>
        <p:nvSpPr>
          <p:cNvPr id="9" name="Text 7"/>
          <p:cNvSpPr txBox="1"/>
          <p:nvPr/>
        </p:nvSpPr>
        <p:spPr>
          <a:xfrm>
            <a:off x="548640" y="3566160"/>
            <a:ext cx="502920" cy="502920"/>
          </a:xfrm>
          <a:prstGeom prst="rect">
            <a:avLst/>
          </a:prstGeom>
          <a:noFill/>
          <a:ln/>
        </p:spPr>
        <p:txBody>
          <a:bodyPr wrap="square" lIns="0" tIns="0" rIns="0" bIns="0" rtlCol="0" anchor="ctr"/>
          <a:lstStyle/>
          <a:p>
            <a:pPr algn="ctr" indent="0" marL="0">
              <a:buNone/>
            </a:pPr>
            <a:r>
              <a:rPr lang="en-US" sz="1800" b="1" dirty="0">
                <a:solidFill>
                  <a:srgbClr val="12152B"/>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234440" y="3493008"/>
            <a:ext cx="29260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Learn it</a:t>
            </a:r>
            <a:endParaRPr lang="en-US" sz="1800" dirty="0"/>
          </a:p>
        </p:txBody>
      </p:sp>
      <p:sp>
        <p:nvSpPr>
          <p:cNvPr id="11" name="Text 9"/>
          <p:cNvSpPr txBox="1"/>
          <p:nvPr/>
        </p:nvSpPr>
        <p:spPr>
          <a:xfrm>
            <a:off x="4343400" y="3493008"/>
            <a:ext cx="7223760" cy="822960"/>
          </a:xfrm>
          <a:prstGeom prst="rect">
            <a:avLst/>
          </a:prstGeom>
          <a:noFill/>
          <a:ln/>
        </p:spPr>
        <p:txBody>
          <a:bodyPr wrap="square" lIns="0" tIns="0" rIns="0" bIns="0" rtlCol="0" anchor="ctr"/>
          <a:lstStyle/>
          <a:p>
            <a:pPr indent="0" marL="0">
              <a:lnSpc>
                <a:spcPct val="125000"/>
              </a:lnSpc>
              <a:buNone/>
            </a:pPr>
            <a:r>
              <a:rPr lang="en-US" sz="1350" dirty="0">
                <a:solidFill>
                  <a:srgbClr val="E8EDF7"/>
                </a:solidFill>
                <a:latin typeface="Calibri" pitchFamily="34" charset="0"/>
                <a:ea typeface="Calibri" pitchFamily="34" charset="-122"/>
                <a:cs typeface="Calibri" pitchFamily="34" charset="-120"/>
              </a:rPr>
              <a:t>Zia Tutor AI, a personal learning agent that teaches the book, remembers your progress, and picks up where you left off — right inside the AI tool you already use.</a:t>
            </a:r>
            <a:endParaRPr lang="en-US" sz="1350" dirty="0"/>
          </a:p>
        </p:txBody>
      </p:sp>
      <p:sp>
        <p:nvSpPr>
          <p:cNvPr id="12" name="Shape 10"/>
          <p:cNvSpPr/>
          <p:nvPr/>
        </p:nvSpPr>
        <p:spPr>
          <a:xfrm>
            <a:off x="548640" y="4800600"/>
            <a:ext cx="502920" cy="502920"/>
          </a:xfrm>
          <a:prstGeom prst="ellipse">
            <a:avLst/>
          </a:prstGeom>
          <a:solidFill>
            <a:srgbClr val="00D9C0"/>
          </a:solidFill>
          <a:ln/>
        </p:spPr>
      </p:sp>
      <p:sp>
        <p:nvSpPr>
          <p:cNvPr id="13" name="Text 11"/>
          <p:cNvSpPr txBox="1"/>
          <p:nvPr/>
        </p:nvSpPr>
        <p:spPr>
          <a:xfrm>
            <a:off x="548640" y="4800600"/>
            <a:ext cx="502920" cy="502920"/>
          </a:xfrm>
          <a:prstGeom prst="rect">
            <a:avLst/>
          </a:prstGeom>
          <a:noFill/>
          <a:ln/>
        </p:spPr>
        <p:txBody>
          <a:bodyPr wrap="square" lIns="0" tIns="0" rIns="0" bIns="0" rtlCol="0" anchor="ctr"/>
          <a:lstStyle/>
          <a:p>
            <a:pPr algn="ctr" indent="0" marL="0">
              <a:buNone/>
            </a:pPr>
            <a:r>
              <a:rPr lang="en-US" sz="1800" b="1" dirty="0">
                <a:solidFill>
                  <a:srgbClr val="12152B"/>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234440" y="4727448"/>
            <a:ext cx="29260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Build with it</a:t>
            </a:r>
            <a:endParaRPr lang="en-US" sz="1800" dirty="0"/>
          </a:p>
        </p:txBody>
      </p:sp>
      <p:sp>
        <p:nvSpPr>
          <p:cNvPr id="15" name="Text 13"/>
          <p:cNvSpPr txBox="1"/>
          <p:nvPr/>
        </p:nvSpPr>
        <p:spPr>
          <a:xfrm>
            <a:off x="4343400" y="4727448"/>
            <a:ext cx="7223760" cy="822960"/>
          </a:xfrm>
          <a:prstGeom prst="rect">
            <a:avLst/>
          </a:prstGeom>
          <a:noFill/>
          <a:ln/>
        </p:spPr>
        <p:txBody>
          <a:bodyPr wrap="square" lIns="0" tIns="0" rIns="0" bIns="0" rtlCol="0" anchor="ctr"/>
          <a:lstStyle/>
          <a:p>
            <a:pPr indent="0" marL="0">
              <a:lnSpc>
                <a:spcPct val="125000"/>
              </a:lnSpc>
              <a:buNone/>
            </a:pPr>
            <a:r>
              <a:rPr lang="en-US" sz="1350" dirty="0">
                <a:solidFill>
                  <a:srgbClr val="E8EDF7"/>
                </a:solidFill>
                <a:latin typeface="Calibri" pitchFamily="34" charset="0"/>
                <a:ea typeface="Calibri" pitchFamily="34" charset="-122"/>
                <a:cs typeface="Calibri" pitchFamily="34" charset="-120"/>
              </a:rPr>
              <a:t>Zia Developer AI, a build partner inside Claude Code and OpenCode that picks the right architecture from the book and helps you build the agent.</a:t>
            </a:r>
            <a:endParaRPr lang="en-US" sz="1350" dirty="0"/>
          </a:p>
        </p:txBody>
      </p:sp>
      <p:sp>
        <p:nvSpPr>
          <p:cNvPr id="16" name="Text 1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8A8FB0"/>
                </a:solidFill>
                <a:latin typeface="Calibri" pitchFamily="34" charset="0"/>
                <a:ea typeface="Calibri" pitchFamily="34" charset="-122"/>
                <a:cs typeface="Calibri" pitchFamily="34" charset="-120"/>
              </a:rPr>
              <a:t>agentfactory.panaversity.org</a:t>
            </a:r>
            <a:endParaRPr lang="en-US" sz="1000" dirty="0"/>
          </a:p>
        </p:txBody>
      </p:sp>
      <p:sp>
        <p:nvSpPr>
          <p:cNvPr id="17" name="Text 15"/>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8A8FB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indent="0" marL="0">
              <a:buNone/>
            </a:pPr>
            <a:r>
              <a:rPr lang="en-US" sz="1300" b="1" spc="200" kern="0" dirty="0">
                <a:solidFill>
                  <a:srgbClr val="049C8C"/>
                </a:solidFill>
                <a:latin typeface="Calibri" pitchFamily="34" charset="0"/>
                <a:ea typeface="Calibri" pitchFamily="34" charset="-122"/>
                <a:cs typeface="Calibri" pitchFamily="34" charset="-120"/>
              </a:rPr>
              <a:t>PROOF YOU CAN CARRY IN</a:t>
            </a:r>
            <a:endParaRPr lang="en-US" sz="1300" dirty="0"/>
          </a:p>
        </p:txBody>
      </p:sp>
      <p:sp>
        <p:nvSpPr>
          <p:cNvPr id="3" name="Text 1"/>
          <p:cNvSpPr txBox="1"/>
          <p:nvPr/>
        </p:nvSpPr>
        <p:spPr>
          <a:xfrm>
            <a:off x="548640" y="777240"/>
            <a:ext cx="8229600" cy="73152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A two-stage certification path</a:t>
            </a:r>
            <a:endParaRPr lang="en-US" sz="3000" dirty="0"/>
          </a:p>
        </p:txBody>
      </p:sp>
      <p:sp>
        <p:nvSpPr>
          <p:cNvPr id="4" name="Shape 2"/>
          <p:cNvSpPr/>
          <p:nvPr/>
        </p:nvSpPr>
        <p:spPr>
          <a:xfrm>
            <a:off x="548640" y="1920240"/>
            <a:ext cx="5120640" cy="3931920"/>
          </a:xfrm>
          <a:prstGeom prst="roundRect">
            <a:avLst>
              <a:gd name="adj" fmla="val 2326"/>
            </a:avLst>
          </a:prstGeom>
          <a:solidFill>
            <a:srgbClr val="E8EDF7"/>
          </a:solidFill>
          <a:ln/>
        </p:spPr>
      </p:sp>
      <p:sp>
        <p:nvSpPr>
          <p:cNvPr id="5" name="Text 3"/>
          <p:cNvSpPr txBox="1"/>
          <p:nvPr/>
        </p:nvSpPr>
        <p:spPr>
          <a:xfrm>
            <a:off x="868680" y="2194560"/>
            <a:ext cx="3657600" cy="320040"/>
          </a:xfrm>
          <a:prstGeom prst="rect">
            <a:avLst/>
          </a:prstGeom>
          <a:noFill/>
          <a:ln/>
        </p:spPr>
        <p:txBody>
          <a:bodyPr wrap="square" lIns="0" tIns="0" rIns="0" bIns="0" rtlCol="0" anchor="ctr"/>
          <a:lstStyle/>
          <a:p>
            <a:pPr indent="0" marL="0">
              <a:buNone/>
            </a:pPr>
            <a:r>
              <a:rPr lang="en-US" sz="1200" b="1" spc="200" kern="0" dirty="0">
                <a:solidFill>
                  <a:srgbClr val="049C8C"/>
                </a:solidFill>
                <a:latin typeface="Calibri" pitchFamily="34" charset="0"/>
                <a:ea typeface="Calibri" pitchFamily="34" charset="-122"/>
                <a:cs typeface="Calibri" pitchFamily="34" charset="-120"/>
              </a:rPr>
              <a:t>STAGE 1</a:t>
            </a:r>
            <a:endParaRPr lang="en-US" sz="1200" dirty="0"/>
          </a:p>
        </p:txBody>
      </p:sp>
      <p:sp>
        <p:nvSpPr>
          <p:cNvPr id="6" name="Text 4"/>
          <p:cNvSpPr txBox="1"/>
          <p:nvPr/>
        </p:nvSpPr>
        <p:spPr>
          <a:xfrm>
            <a:off x="868680" y="2514600"/>
            <a:ext cx="4480560" cy="502920"/>
          </a:xfrm>
          <a:prstGeom prst="rect">
            <a:avLst/>
          </a:prstGeom>
          <a:noFill/>
          <a:ln/>
        </p:spPr>
        <p:txBody>
          <a:bodyPr wrap="square" lIns="0" tIns="0" rIns="0" bIns="0" rtlCol="0" anchor="ctr"/>
          <a:lstStyle/>
          <a:p>
            <a:pPr indent="0" marL="0">
              <a:buNone/>
            </a:pPr>
            <a:r>
              <a:rPr lang="en-US" sz="2200" b="1" dirty="0">
                <a:solidFill>
                  <a:srgbClr val="1B1F3B"/>
                </a:solidFill>
                <a:latin typeface="Cambria" pitchFamily="34" charset="0"/>
                <a:ea typeface="Cambria" pitchFamily="34" charset="-122"/>
                <a:cs typeface="Cambria" pitchFamily="34" charset="-120"/>
              </a:rPr>
              <a:t>Panaversity</a:t>
            </a:r>
            <a:endParaRPr lang="en-US" sz="2200" dirty="0"/>
          </a:p>
        </p:txBody>
      </p:sp>
      <p:sp>
        <p:nvSpPr>
          <p:cNvPr id="7" name="Text 5"/>
          <p:cNvSpPr txBox="1"/>
          <p:nvPr/>
        </p:nvSpPr>
        <p:spPr>
          <a:xfrm>
            <a:off x="868680" y="3108960"/>
            <a:ext cx="4480560" cy="2560320"/>
          </a:xfrm>
          <a:prstGeom prst="rect">
            <a:avLst/>
          </a:prstGeom>
          <a:noFill/>
          <a:ln/>
        </p:spPr>
        <p:txBody>
          <a:bodyPr wrap="square" lIns="0" tIns="0" rIns="0" bIns="0" rtlCol="0" anchor="ctr"/>
          <a:lstStyle/>
          <a:p>
            <a:pPr indent="0" marL="0">
              <a:lnSpc>
                <a:spcPct val="135000"/>
              </a:lnSpc>
              <a:buNone/>
            </a:pPr>
            <a:r>
              <a:rPr lang="en-US" sz="1400" dirty="0">
                <a:solidFill>
                  <a:srgbClr val="22263F"/>
                </a:solidFill>
                <a:latin typeface="Calibri" pitchFamily="34" charset="0"/>
                <a:ea typeface="Calibri" pitchFamily="34" charset="-122"/>
                <a:cs typeface="Calibri" pitchFamily="34" charset="-120"/>
              </a:rPr>
              <a:t>Four proctored exams covering the book’s domains, leading into the FDE Internship Program — real, supervised experience building AI Workers.</a:t>
            </a:r>
            <a:endParaRPr lang="en-US" sz="1400" dirty="0"/>
          </a:p>
        </p:txBody>
      </p:sp>
      <p:sp>
        <p:nvSpPr>
          <p:cNvPr id="8" name="Text 6"/>
          <p:cNvSpPr txBox="1"/>
          <p:nvPr/>
        </p:nvSpPr>
        <p:spPr>
          <a:xfrm>
            <a:off x="5760720" y="1920240"/>
            <a:ext cx="640080" cy="3931920"/>
          </a:xfrm>
          <a:prstGeom prst="rect">
            <a:avLst/>
          </a:prstGeom>
          <a:noFill/>
          <a:ln/>
        </p:spPr>
        <p:txBody>
          <a:bodyPr wrap="square" lIns="0" tIns="0" rIns="0" bIns="0" rtlCol="0" anchor="ctr"/>
          <a:lstStyle/>
          <a:p>
            <a:pPr algn="ctr" indent="0" marL="0">
              <a:buNone/>
            </a:pPr>
            <a:r>
              <a:rPr lang="en-US" sz="2600" b="1" dirty="0">
                <a:solidFill>
                  <a:srgbClr val="6B7089"/>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6492240" y="1920240"/>
            <a:ext cx="5166360" cy="3931920"/>
          </a:xfrm>
          <a:prstGeom prst="roundRect">
            <a:avLst>
              <a:gd name="adj" fmla="val 2326"/>
            </a:avLst>
          </a:prstGeom>
          <a:solidFill>
            <a:srgbClr val="1B1F3B"/>
          </a:solidFill>
          <a:ln/>
        </p:spPr>
      </p:sp>
      <p:sp>
        <p:nvSpPr>
          <p:cNvPr id="10" name="Text 8"/>
          <p:cNvSpPr txBox="1"/>
          <p:nvPr/>
        </p:nvSpPr>
        <p:spPr>
          <a:xfrm>
            <a:off x="6812280" y="2194560"/>
            <a:ext cx="3657600" cy="320040"/>
          </a:xfrm>
          <a:prstGeom prst="rect">
            <a:avLst/>
          </a:prstGeom>
          <a:noFill/>
          <a:ln/>
        </p:spPr>
        <p:txBody>
          <a:bodyPr wrap="square" lIns="0" tIns="0" rIns="0" bIns="0" rtlCol="0" anchor="ctr"/>
          <a:lstStyle/>
          <a:p>
            <a:pPr indent="0" marL="0">
              <a:buNone/>
            </a:pPr>
            <a:r>
              <a:rPr lang="en-US" sz="1200" b="1" spc="200" kern="0" dirty="0">
                <a:solidFill>
                  <a:srgbClr val="00D9C0"/>
                </a:solidFill>
                <a:latin typeface="Calibri" pitchFamily="34" charset="0"/>
                <a:ea typeface="Calibri" pitchFamily="34" charset="-122"/>
                <a:cs typeface="Calibri" pitchFamily="34" charset="-120"/>
              </a:rPr>
              <a:t>STAGE 2</a:t>
            </a:r>
            <a:endParaRPr lang="en-US" sz="1200" dirty="0"/>
          </a:p>
        </p:txBody>
      </p:sp>
      <p:sp>
        <p:nvSpPr>
          <p:cNvPr id="11" name="Text 9"/>
          <p:cNvSpPr txBox="1"/>
          <p:nvPr/>
        </p:nvSpPr>
        <p:spPr>
          <a:xfrm>
            <a:off x="6812280" y="2514600"/>
            <a:ext cx="4480560"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Anthropic Claude</a:t>
            </a:r>
            <a:endParaRPr lang="en-US" sz="2200" dirty="0"/>
          </a:p>
        </p:txBody>
      </p:sp>
      <p:sp>
        <p:nvSpPr>
          <p:cNvPr id="12" name="Text 10"/>
          <p:cNvSpPr txBox="1"/>
          <p:nvPr/>
        </p:nvSpPr>
        <p:spPr>
          <a:xfrm>
            <a:off x="6812280" y="3108960"/>
            <a:ext cx="4480560" cy="2560320"/>
          </a:xfrm>
          <a:prstGeom prst="rect">
            <a:avLst/>
          </a:prstGeom>
          <a:noFill/>
          <a:ln/>
        </p:spPr>
        <p:txBody>
          <a:bodyPr wrap="square" lIns="0" tIns="0" rIns="0" bIns="0" rtlCol="0" anchor="ctr"/>
          <a:lstStyle/>
          <a:p>
            <a:pPr indent="0" marL="0">
              <a:lnSpc>
                <a:spcPct val="135000"/>
              </a:lnSpc>
              <a:buNone/>
            </a:pPr>
            <a:r>
              <a:rPr lang="en-US" sz="1400" dirty="0">
                <a:solidFill>
                  <a:srgbClr val="E8EDF7"/>
                </a:solidFill>
                <a:latin typeface="Calibri" pitchFamily="34" charset="0"/>
                <a:ea typeface="Calibri" pitchFamily="34" charset="-122"/>
                <a:cs typeface="Calibri" pitchFamily="34" charset="-120"/>
              </a:rPr>
              <a:t>Four official certifications — CCAO-F, CCDV-F, CCAR-F, and CCAR-P — mapped exam-domain by exam-domain back to the book’s courses.</a:t>
            </a:r>
            <a:endParaRPr lang="en-US" sz="1400" dirty="0"/>
          </a:p>
        </p:txBody>
      </p:sp>
      <p:sp>
        <p:nvSpPr>
          <p:cNvPr id="13" name="Text 11"/>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9AA0BE"/>
                </a:solidFill>
                <a:latin typeface="Calibri" pitchFamily="34" charset="0"/>
                <a:ea typeface="Calibri" pitchFamily="34" charset="-122"/>
                <a:cs typeface="Calibri" pitchFamily="34" charset="-120"/>
              </a:rPr>
              <a:t>agentfactory.panaversity.org</a:t>
            </a:r>
            <a:endParaRPr lang="en-US" sz="1000" dirty="0"/>
          </a:p>
        </p:txBody>
      </p:sp>
      <p:sp>
        <p:nvSpPr>
          <p:cNvPr id="14" name="Text 12"/>
          <p:cNvSpPr txBox="1"/>
          <p:nvPr/>
        </p:nvSpPr>
        <p:spPr>
          <a:xfrm>
            <a:off x="11338560" y="6473952"/>
            <a:ext cx="365760" cy="274320"/>
          </a:xfrm>
          <a:prstGeom prst="rect">
            <a:avLst/>
          </a:prstGeom>
          <a:noFill/>
          <a:ln/>
        </p:spPr>
        <p:txBody>
          <a:bodyPr wrap="square" lIns="0" tIns="0" rIns="0" bIns="0" rtlCol="0" anchor="ctr"/>
          <a:lstStyle/>
          <a:p>
            <a:pPr algn="r" indent="0" marL="0">
              <a:buNone/>
            </a:pPr>
            <a:r>
              <a:rPr lang="en-US" sz="1000" dirty="0">
                <a:solidFill>
                  <a:srgbClr val="9AA0B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731520" y="4206240"/>
            <a:ext cx="3108960" cy="3108960"/>
          </a:xfrm>
          <a:prstGeom prst="ellipse">
            <a:avLst/>
          </a:prstGeom>
          <a:solidFill>
            <a:srgbClr val="12152B"/>
          </a:solidFill>
          <a:ln/>
        </p:spPr>
      </p:sp>
      <p:sp>
        <p:nvSpPr>
          <p:cNvPr id="3" name="Shape 1"/>
          <p:cNvSpPr/>
          <p:nvPr/>
        </p:nvSpPr>
        <p:spPr>
          <a:xfrm>
            <a:off x="9692640" y="-822960"/>
            <a:ext cx="2377440" cy="2377440"/>
          </a:xfrm>
          <a:prstGeom prst="ellipse">
            <a:avLst/>
          </a:prstGeom>
          <a:solidFill>
            <a:srgbClr val="12152B"/>
          </a:solidFill>
          <a:ln/>
        </p:spPr>
      </p:sp>
      <p:sp>
        <p:nvSpPr>
          <p:cNvPr id="4" name="Text 2"/>
          <p:cNvSpPr txBox="1"/>
          <p:nvPr/>
        </p:nvSpPr>
        <p:spPr>
          <a:xfrm>
            <a:off x="640080" y="1371600"/>
            <a:ext cx="7315200" cy="365760"/>
          </a:xfrm>
          <a:prstGeom prst="rect">
            <a:avLst/>
          </a:prstGeom>
          <a:noFill/>
          <a:ln/>
        </p:spPr>
        <p:txBody>
          <a:bodyPr wrap="square" lIns="0" tIns="0" rIns="0" bIns="0" rtlCol="0" anchor="ctr"/>
          <a:lstStyle/>
          <a:p>
            <a:pPr indent="0" marL="0">
              <a:buNone/>
            </a:pPr>
            <a:r>
              <a:rPr lang="en-US" sz="1300" b="1" spc="200" kern="0" dirty="0">
                <a:solidFill>
                  <a:srgbClr val="00D9C0"/>
                </a:solidFill>
                <a:latin typeface="Calibri" pitchFamily="34" charset="0"/>
                <a:ea typeface="Calibri" pitchFamily="34" charset="-122"/>
                <a:cs typeface="Calibri" pitchFamily="34" charset="-120"/>
              </a:rPr>
              <a:t>READY WHEN YOU ARE</a:t>
            </a:r>
            <a:endParaRPr lang="en-US" sz="1300" dirty="0"/>
          </a:p>
        </p:txBody>
      </p:sp>
      <p:sp>
        <p:nvSpPr>
          <p:cNvPr id="5" name="Text 3"/>
          <p:cNvSpPr txBox="1"/>
          <p:nvPr/>
        </p:nvSpPr>
        <p:spPr>
          <a:xfrm>
            <a:off x="594360" y="1783080"/>
            <a:ext cx="96012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Start with the Crash Courses</a:t>
            </a:r>
            <a:endParaRPr lang="en-US" sz="3800" dirty="0"/>
          </a:p>
        </p:txBody>
      </p:sp>
      <p:sp>
        <p:nvSpPr>
          <p:cNvPr id="6" name="Text 4"/>
          <p:cNvSpPr txBox="1"/>
          <p:nvPr/>
        </p:nvSpPr>
        <p:spPr>
          <a:xfrm>
            <a:off x="640080" y="2880360"/>
            <a:ext cx="8412480" cy="822960"/>
          </a:xfrm>
          <a:prstGeom prst="rect">
            <a:avLst/>
          </a:prstGeom>
          <a:noFill/>
          <a:ln/>
        </p:spPr>
        <p:txBody>
          <a:bodyPr wrap="square" lIns="0" tIns="0" rIns="0" bIns="0" rtlCol="0" anchor="ctr"/>
          <a:lstStyle/>
          <a:p>
            <a:pPr indent="0" marL="0">
              <a:lnSpc>
                <a:spcPct val="130000"/>
              </a:lnSpc>
              <a:buNone/>
            </a:pPr>
            <a:r>
              <a:rPr lang="en-US" sz="1600" dirty="0">
                <a:solidFill>
                  <a:srgbClr val="E8EDF7"/>
                </a:solidFill>
                <a:latin typeface="Calibri" pitchFamily="34" charset="0"/>
                <a:ea typeface="Calibri" pitchFamily="34" charset="-122"/>
                <a:cs typeface="Calibri" pitchFamily="34" charset="-120"/>
              </a:rPr>
              <a:t>Foundations (1–6), then Agentic Coding, Build AI Agents, and From Agent to Digital FTE — about 15 focused hours to your first shipped Digital FTE.</a:t>
            </a:r>
            <a:endParaRPr lang="en-US" sz="1600" dirty="0"/>
          </a:p>
        </p:txBody>
      </p:sp>
      <p:sp>
        <p:nvSpPr>
          <p:cNvPr id="7" name="Shape 5"/>
          <p:cNvSpPr/>
          <p:nvPr/>
        </p:nvSpPr>
        <p:spPr>
          <a:xfrm>
            <a:off x="640080" y="4114800"/>
            <a:ext cx="4937760" cy="960120"/>
          </a:xfrm>
          <a:prstGeom prst="roundRect">
            <a:avLst>
              <a:gd name="adj" fmla="val 52381"/>
            </a:avLst>
          </a:prstGeom>
          <a:solidFill>
            <a:srgbClr val="00D9C0"/>
          </a:solidFill>
          <a:ln/>
        </p:spPr>
      </p:sp>
      <p:sp>
        <p:nvSpPr>
          <p:cNvPr id="8" name="Text 6"/>
          <p:cNvSpPr txBox="1"/>
          <p:nvPr/>
        </p:nvSpPr>
        <p:spPr>
          <a:xfrm>
            <a:off x="640080" y="4114800"/>
            <a:ext cx="4937760" cy="960120"/>
          </a:xfrm>
          <a:prstGeom prst="rect">
            <a:avLst/>
          </a:prstGeom>
          <a:noFill/>
          <a:ln/>
        </p:spPr>
        <p:txBody>
          <a:bodyPr wrap="square" lIns="0" tIns="0" rIns="0" bIns="0" rtlCol="0" anchor="ctr"/>
          <a:lstStyle/>
          <a:p>
            <a:pPr algn="ctr" indent="0" marL="0">
              <a:buNone/>
            </a:pPr>
            <a:r>
              <a:rPr lang="en-US" sz="2000" b="1" dirty="0">
                <a:solidFill>
                  <a:srgbClr val="12152B"/>
                </a:solidFill>
                <a:latin typeface="Cambria" pitchFamily="34" charset="0"/>
                <a:ea typeface="Cambria" pitchFamily="34" charset="-122"/>
                <a:cs typeface="Cambria" pitchFamily="34" charset="-120"/>
              </a:rPr>
              <a:t>agentfactory.panaversity.org</a:t>
            </a:r>
            <a:endParaRPr lang="en-US" sz="2000" dirty="0"/>
          </a:p>
        </p:txBody>
      </p:sp>
      <p:sp>
        <p:nvSpPr>
          <p:cNvPr id="9" name="Text 7"/>
          <p:cNvSpPr txBox="1"/>
          <p:nvPr/>
        </p:nvSpPr>
        <p:spPr>
          <a:xfrm>
            <a:off x="640080" y="5257800"/>
            <a:ext cx="5486400" cy="365760"/>
          </a:xfrm>
          <a:prstGeom prst="rect">
            <a:avLst/>
          </a:prstGeom>
          <a:noFill/>
          <a:ln/>
        </p:spPr>
        <p:txBody>
          <a:bodyPr wrap="square" lIns="0" tIns="0" rIns="0" bIns="0" rtlCol="0" anchor="ctr"/>
          <a:lstStyle/>
          <a:p>
            <a:pPr indent="0" marL="0">
              <a:buNone/>
            </a:pPr>
            <a:r>
              <a:rPr lang="en-US" sz="1300" i="1" dirty="0">
                <a:solidFill>
                  <a:srgbClr val="9AA0BE"/>
                </a:solidFill>
                <a:latin typeface="Calibri" pitchFamily="34" charset="0"/>
                <a:ea typeface="Calibri" pitchFamily="34" charset="-122"/>
                <a:cs typeface="Calibri" pitchFamily="34" charset="-120"/>
              </a:rPr>
              <a:t>Free to read · Published 2026 by Panaversity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2026-09-17T17:19:35Z</dcterms:created>
  <dcterms:modified xsi:type="dcterms:W3CDTF">2026-09-17T17:19:35Z</dcterms:modified>
</cp:coreProperties>
</file>